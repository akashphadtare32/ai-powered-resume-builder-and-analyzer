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67" r:id="rId2"/>
    <p:sldId id="258" r:id="rId3"/>
    <p:sldId id="271" r:id="rId4"/>
    <p:sldId id="284" r:id="rId5"/>
    <p:sldId id="260" r:id="rId6"/>
    <p:sldId id="261" r:id="rId7"/>
    <p:sldId id="262" r:id="rId8"/>
    <p:sldId id="263" r:id="rId9"/>
    <p:sldId id="264" r:id="rId10"/>
    <p:sldId id="270" r:id="rId11"/>
    <p:sldId id="272" r:id="rId12"/>
    <p:sldId id="273" r:id="rId13"/>
    <p:sldId id="274" r:id="rId14"/>
    <p:sldId id="278" r:id="rId15"/>
    <p:sldId id="286" r:id="rId16"/>
    <p:sldId id="287" r:id="rId17"/>
    <p:sldId id="276" r:id="rId18"/>
    <p:sldId id="285" r:id="rId19"/>
    <p:sldId id="288" r:id="rId20"/>
    <p:sldId id="280" r:id="rId21"/>
    <p:sldId id="281" r:id="rId22"/>
    <p:sldId id="282"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a:srgbClr val="CC3300"/>
    <a:srgbClr val="000000"/>
    <a:srgbClr val="F58B3B"/>
    <a:srgbClr val="ED6743"/>
    <a:srgbClr val="7A24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1" autoAdjust="0"/>
    <p:restoredTop sz="94660"/>
  </p:normalViewPr>
  <p:slideViewPr>
    <p:cSldViewPr snapToGrid="0">
      <p:cViewPr varScale="1">
        <p:scale>
          <a:sx n="65" d="100"/>
          <a:sy n="65" d="100"/>
        </p:scale>
        <p:origin x="69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EF1BA76-E07D-4457-B05C-8F41BEFD5570}" type="doc">
      <dgm:prSet loTypeId="urn:microsoft.com/office/officeart/2005/8/layout/vList2#1" loCatId="list" qsTypeId="urn:microsoft.com/office/officeart/2005/8/quickstyle/simple1#1" qsCatId="simple" csTypeId="urn:microsoft.com/office/officeart/2005/8/colors/accent1_2#1" csCatId="accent1" phldr="1"/>
      <dgm:spPr/>
    </dgm:pt>
    <dgm:pt modelId="{A08BDB20-6FAB-4947-B4F8-946FDF03C744}">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Introduction</a:t>
          </a:r>
          <a:endParaRPr lang="en-US" sz="2800" dirty="0"/>
        </a:p>
      </dgm:t>
    </dgm:pt>
    <dgm:pt modelId="{A489CD4C-39AB-445D-BBD3-8DE195509F0C}" type="parTrans" cxnId="{47514E4F-FF18-4A01-BB35-626C9843C48C}">
      <dgm:prSet/>
      <dgm:spPr/>
      <dgm:t>
        <a:bodyPr/>
        <a:lstStyle/>
        <a:p>
          <a:endParaRPr lang="en-US"/>
        </a:p>
      </dgm:t>
    </dgm:pt>
    <dgm:pt modelId="{05E625C5-C243-4CA2-ACAA-E79F6CE1813B}" type="sibTrans" cxnId="{47514E4F-FF18-4A01-BB35-626C9843C48C}">
      <dgm:prSet/>
      <dgm:spPr/>
      <dgm:t>
        <a:bodyPr/>
        <a:lstStyle/>
        <a:p>
          <a:endParaRPr lang="en-US"/>
        </a:p>
      </dgm:t>
    </dgm:pt>
    <dgm:pt modelId="{36FECA07-F341-46C2-B800-5054D261331E}">
      <dgm:prSet phldrT="[Text]" phldr="0" custT="1"/>
      <dgm:spPr>
        <a:solidFill>
          <a:srgbClr val="002060"/>
        </a:solidFill>
      </dgm:spPr>
      <dgm:t>
        <a:bodyPr vert="horz" wrap="square"/>
        <a:lstStyle/>
        <a:p>
          <a:pPr>
            <a:lnSpc>
              <a:spcPct val="100000"/>
            </a:lnSpc>
            <a:spcBef>
              <a:spcPct val="0"/>
            </a:spcBef>
            <a:spcAft>
              <a:spcPct val="35000"/>
            </a:spcAft>
          </a:pPr>
          <a:r>
            <a:rPr lang="en-US" sz="2800" b="1" dirty="0">
              <a:latin typeface="Times New Roman" panose="02020603050405020304" pitchFamily="18" charset="0"/>
              <a:cs typeface="Times New Roman" panose="02020603050405020304" pitchFamily="18" charset="0"/>
            </a:rPr>
            <a:t>Rationale </a:t>
          </a:r>
          <a:endParaRPr lang="en-US" sz="2800" dirty="0"/>
        </a:p>
      </dgm:t>
    </dgm:pt>
    <dgm:pt modelId="{64E4FE1A-BFDB-4173-BB71-D683B40C1C66}" type="parTrans" cxnId="{C4D70097-F74A-4A0F-A8C3-6B7725DB26F3}">
      <dgm:prSet/>
      <dgm:spPr/>
      <dgm:t>
        <a:bodyPr/>
        <a:lstStyle/>
        <a:p>
          <a:endParaRPr lang="en-US"/>
        </a:p>
      </dgm:t>
    </dgm:pt>
    <dgm:pt modelId="{7F8B68C9-1F69-45BD-B4B9-CE040EF6968D}" type="sibTrans" cxnId="{C4D70097-F74A-4A0F-A8C3-6B7725DB26F3}">
      <dgm:prSet/>
      <dgm:spPr/>
      <dgm:t>
        <a:bodyPr/>
        <a:lstStyle/>
        <a:p>
          <a:endParaRPr lang="en-US"/>
        </a:p>
      </dgm:t>
    </dgm:pt>
    <dgm:pt modelId="{C786527A-DEB5-4403-9C35-3BE0E688585A}">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Literature Review</a:t>
          </a:r>
          <a:endParaRPr lang="en-US" sz="2800" dirty="0"/>
        </a:p>
      </dgm:t>
    </dgm:pt>
    <dgm:pt modelId="{AAAB6229-C93C-41F7-BCA5-574395D25DBD}" type="parTrans" cxnId="{DEDA6BDC-D1DF-4703-8900-18D8B3D23BE7}">
      <dgm:prSet/>
      <dgm:spPr/>
      <dgm:t>
        <a:bodyPr/>
        <a:lstStyle/>
        <a:p>
          <a:endParaRPr lang="en-US"/>
        </a:p>
      </dgm:t>
    </dgm:pt>
    <dgm:pt modelId="{B6BD2E49-DCF4-4015-BF84-74D0D3371031}" type="sibTrans" cxnId="{DEDA6BDC-D1DF-4703-8900-18D8B3D23BE7}">
      <dgm:prSet/>
      <dgm:spPr/>
      <dgm:t>
        <a:bodyPr/>
        <a:lstStyle/>
        <a:p>
          <a:endParaRPr lang="en-US"/>
        </a:p>
      </dgm:t>
    </dgm:pt>
    <dgm:pt modelId="{B239CD13-055D-4687-BD65-F85266C1E9D4}">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Problem Statement</a:t>
          </a:r>
          <a:endParaRPr lang="en-US" sz="2800" dirty="0"/>
        </a:p>
      </dgm:t>
    </dgm:pt>
    <dgm:pt modelId="{707B6CEE-940D-4AAA-9914-7199AEFA25BA}" type="parTrans" cxnId="{13E63D50-B485-4BF2-88D1-820EDDCB750A}">
      <dgm:prSet/>
      <dgm:spPr/>
      <dgm:t>
        <a:bodyPr/>
        <a:lstStyle/>
        <a:p>
          <a:endParaRPr lang="en-US"/>
        </a:p>
      </dgm:t>
    </dgm:pt>
    <dgm:pt modelId="{BD319504-3D0A-4C83-8D99-B86BF3C12587}" type="sibTrans" cxnId="{13E63D50-B485-4BF2-88D1-820EDDCB750A}">
      <dgm:prSet/>
      <dgm:spPr/>
      <dgm:t>
        <a:bodyPr/>
        <a:lstStyle/>
        <a:p>
          <a:endParaRPr lang="en-US"/>
        </a:p>
      </dgm:t>
    </dgm:pt>
    <dgm:pt modelId="{0646F582-1A01-4250-86B2-9CCAC9B14AE2}">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Objectives</a:t>
          </a:r>
          <a:endParaRPr lang="en-US" sz="2800" dirty="0"/>
        </a:p>
      </dgm:t>
    </dgm:pt>
    <dgm:pt modelId="{E7327151-072B-423D-857D-F9502F0EFB1B}" type="parTrans" cxnId="{524580A2-207D-407D-8E10-8397A2C23727}">
      <dgm:prSet/>
      <dgm:spPr/>
      <dgm:t>
        <a:bodyPr/>
        <a:lstStyle/>
        <a:p>
          <a:endParaRPr lang="en-US"/>
        </a:p>
      </dgm:t>
    </dgm:pt>
    <dgm:pt modelId="{06CF6D1A-81C0-4925-A2E4-D75C70940643}" type="sibTrans" cxnId="{524580A2-207D-407D-8E10-8397A2C23727}">
      <dgm:prSet/>
      <dgm:spPr/>
      <dgm:t>
        <a:bodyPr/>
        <a:lstStyle/>
        <a:p>
          <a:endParaRPr lang="en-US"/>
        </a:p>
      </dgm:t>
    </dgm:pt>
    <dgm:pt modelId="{9E4925F3-A84B-41A2-81C0-B1934A11EBDB}" type="pres">
      <dgm:prSet presAssocID="{4EF1BA76-E07D-4457-B05C-8F41BEFD5570}" presName="linear" presStyleCnt="0">
        <dgm:presLayoutVars>
          <dgm:animLvl val="lvl"/>
          <dgm:resizeHandles val="exact"/>
        </dgm:presLayoutVars>
      </dgm:prSet>
      <dgm:spPr/>
    </dgm:pt>
    <dgm:pt modelId="{E59A99F6-5BA9-468B-9747-FBF64C0AEE2E}" type="pres">
      <dgm:prSet presAssocID="{A08BDB20-6FAB-4947-B4F8-946FDF03C744}" presName="parentText" presStyleLbl="node1" presStyleIdx="0" presStyleCnt="5">
        <dgm:presLayoutVars>
          <dgm:chMax val="0"/>
          <dgm:bulletEnabled val="1"/>
        </dgm:presLayoutVars>
      </dgm:prSet>
      <dgm:spPr/>
    </dgm:pt>
    <dgm:pt modelId="{B9CBF624-FA9A-4118-A189-918DCC02B127}" type="pres">
      <dgm:prSet presAssocID="{05E625C5-C243-4CA2-ACAA-E79F6CE1813B}" presName="spacer" presStyleCnt="0"/>
      <dgm:spPr/>
    </dgm:pt>
    <dgm:pt modelId="{5A0E713A-E2E3-4CC1-877D-E33EC52F4136}" type="pres">
      <dgm:prSet presAssocID="{36FECA07-F341-46C2-B800-5054D261331E}" presName="parentText" presStyleLbl="node1" presStyleIdx="1" presStyleCnt="5">
        <dgm:presLayoutVars>
          <dgm:chMax val="0"/>
          <dgm:bulletEnabled val="1"/>
        </dgm:presLayoutVars>
      </dgm:prSet>
      <dgm:spPr/>
    </dgm:pt>
    <dgm:pt modelId="{BF213CF7-E0E6-4293-9DA5-C09E0BAC5FAA}" type="pres">
      <dgm:prSet presAssocID="{7F8B68C9-1F69-45BD-B4B9-CE040EF6968D}" presName="spacer" presStyleCnt="0"/>
      <dgm:spPr/>
    </dgm:pt>
    <dgm:pt modelId="{2A9F7A49-2465-4CF9-BA70-BE1B0CDFD961}" type="pres">
      <dgm:prSet presAssocID="{C786527A-DEB5-4403-9C35-3BE0E688585A}" presName="parentText" presStyleLbl="node1" presStyleIdx="2" presStyleCnt="5">
        <dgm:presLayoutVars>
          <dgm:chMax val="0"/>
          <dgm:bulletEnabled val="1"/>
        </dgm:presLayoutVars>
      </dgm:prSet>
      <dgm:spPr/>
    </dgm:pt>
    <dgm:pt modelId="{E6E94FE4-16B1-4C8A-A1B2-D229DD0FC3A8}" type="pres">
      <dgm:prSet presAssocID="{B6BD2E49-DCF4-4015-BF84-74D0D3371031}" presName="spacer" presStyleCnt="0"/>
      <dgm:spPr/>
    </dgm:pt>
    <dgm:pt modelId="{379F4310-874F-4923-B5A5-3C164C8A66E1}" type="pres">
      <dgm:prSet presAssocID="{B239CD13-055D-4687-BD65-F85266C1E9D4}" presName="parentText" presStyleLbl="node1" presStyleIdx="3" presStyleCnt="5">
        <dgm:presLayoutVars>
          <dgm:chMax val="0"/>
          <dgm:bulletEnabled val="1"/>
        </dgm:presLayoutVars>
      </dgm:prSet>
      <dgm:spPr/>
    </dgm:pt>
    <dgm:pt modelId="{0E0278EC-0507-4726-9E38-F7EBF145E788}" type="pres">
      <dgm:prSet presAssocID="{BD319504-3D0A-4C83-8D99-B86BF3C12587}" presName="spacer" presStyleCnt="0"/>
      <dgm:spPr/>
    </dgm:pt>
    <dgm:pt modelId="{25B964EA-C9EF-482B-9FE5-D4E081B96027}" type="pres">
      <dgm:prSet presAssocID="{0646F582-1A01-4250-86B2-9CCAC9B14AE2}" presName="parentText" presStyleLbl="node1" presStyleIdx="4" presStyleCnt="5" custLinFactNeighborX="0" custLinFactNeighborY="-27796">
        <dgm:presLayoutVars>
          <dgm:chMax val="0"/>
          <dgm:bulletEnabled val="1"/>
        </dgm:presLayoutVars>
      </dgm:prSet>
      <dgm:spPr/>
    </dgm:pt>
  </dgm:ptLst>
  <dgm:cxnLst>
    <dgm:cxn modelId="{B085F21E-20B7-4E30-9025-DD136F22C9D6}" type="presOf" srcId="{A08BDB20-6FAB-4947-B4F8-946FDF03C744}" destId="{E59A99F6-5BA9-468B-9747-FBF64C0AEE2E}" srcOrd="0" destOrd="0" presId="urn:microsoft.com/office/officeart/2005/8/layout/vList2#1"/>
    <dgm:cxn modelId="{CE163B5F-429E-48A4-9C19-B68D0BA6E884}" type="presOf" srcId="{0646F582-1A01-4250-86B2-9CCAC9B14AE2}" destId="{25B964EA-C9EF-482B-9FE5-D4E081B96027}" srcOrd="0" destOrd="0" presId="urn:microsoft.com/office/officeart/2005/8/layout/vList2#1"/>
    <dgm:cxn modelId="{47514E4F-FF18-4A01-BB35-626C9843C48C}" srcId="{4EF1BA76-E07D-4457-B05C-8F41BEFD5570}" destId="{A08BDB20-6FAB-4947-B4F8-946FDF03C744}" srcOrd="0" destOrd="0" parTransId="{A489CD4C-39AB-445D-BBD3-8DE195509F0C}" sibTransId="{05E625C5-C243-4CA2-ACAA-E79F6CE1813B}"/>
    <dgm:cxn modelId="{E84B914F-27F9-4D83-B136-E0EF3F950188}" type="presOf" srcId="{C786527A-DEB5-4403-9C35-3BE0E688585A}" destId="{2A9F7A49-2465-4CF9-BA70-BE1B0CDFD961}" srcOrd="0" destOrd="0" presId="urn:microsoft.com/office/officeart/2005/8/layout/vList2#1"/>
    <dgm:cxn modelId="{13E63D50-B485-4BF2-88D1-820EDDCB750A}" srcId="{4EF1BA76-E07D-4457-B05C-8F41BEFD5570}" destId="{B239CD13-055D-4687-BD65-F85266C1E9D4}" srcOrd="3" destOrd="0" parTransId="{707B6CEE-940D-4AAA-9914-7199AEFA25BA}" sibTransId="{BD319504-3D0A-4C83-8D99-B86BF3C12587}"/>
    <dgm:cxn modelId="{6A19975A-FFE2-43D9-8EEC-120AF19FC796}" type="presOf" srcId="{36FECA07-F341-46C2-B800-5054D261331E}" destId="{5A0E713A-E2E3-4CC1-877D-E33EC52F4136}" srcOrd="0" destOrd="0" presId="urn:microsoft.com/office/officeart/2005/8/layout/vList2#1"/>
    <dgm:cxn modelId="{C4D70097-F74A-4A0F-A8C3-6B7725DB26F3}" srcId="{4EF1BA76-E07D-4457-B05C-8F41BEFD5570}" destId="{36FECA07-F341-46C2-B800-5054D261331E}" srcOrd="1" destOrd="0" parTransId="{64E4FE1A-BFDB-4173-BB71-D683B40C1C66}" sibTransId="{7F8B68C9-1F69-45BD-B4B9-CE040EF6968D}"/>
    <dgm:cxn modelId="{524580A2-207D-407D-8E10-8397A2C23727}" srcId="{4EF1BA76-E07D-4457-B05C-8F41BEFD5570}" destId="{0646F582-1A01-4250-86B2-9CCAC9B14AE2}" srcOrd="4" destOrd="0" parTransId="{E7327151-072B-423D-857D-F9502F0EFB1B}" sibTransId="{06CF6D1A-81C0-4925-A2E4-D75C70940643}"/>
    <dgm:cxn modelId="{F0231DB2-6E8A-4B4E-93BC-546831322B04}" type="presOf" srcId="{B239CD13-055D-4687-BD65-F85266C1E9D4}" destId="{379F4310-874F-4923-B5A5-3C164C8A66E1}" srcOrd="0" destOrd="0" presId="urn:microsoft.com/office/officeart/2005/8/layout/vList2#1"/>
    <dgm:cxn modelId="{7338CAD8-E0F8-4AA0-A3D5-4D550A015E3A}" type="presOf" srcId="{4EF1BA76-E07D-4457-B05C-8F41BEFD5570}" destId="{9E4925F3-A84B-41A2-81C0-B1934A11EBDB}" srcOrd="0" destOrd="0" presId="urn:microsoft.com/office/officeart/2005/8/layout/vList2#1"/>
    <dgm:cxn modelId="{DEDA6BDC-D1DF-4703-8900-18D8B3D23BE7}" srcId="{4EF1BA76-E07D-4457-B05C-8F41BEFD5570}" destId="{C786527A-DEB5-4403-9C35-3BE0E688585A}" srcOrd="2" destOrd="0" parTransId="{AAAB6229-C93C-41F7-BCA5-574395D25DBD}" sibTransId="{B6BD2E49-DCF4-4015-BF84-74D0D3371031}"/>
    <dgm:cxn modelId="{E80E80C3-F98D-4E16-8F84-8476CC63CD1B}" type="presParOf" srcId="{9E4925F3-A84B-41A2-81C0-B1934A11EBDB}" destId="{E59A99F6-5BA9-468B-9747-FBF64C0AEE2E}" srcOrd="0" destOrd="0" presId="urn:microsoft.com/office/officeart/2005/8/layout/vList2#1"/>
    <dgm:cxn modelId="{8D08F52E-C5C7-4A97-A78B-C911B4E0EE8E}" type="presParOf" srcId="{9E4925F3-A84B-41A2-81C0-B1934A11EBDB}" destId="{B9CBF624-FA9A-4118-A189-918DCC02B127}" srcOrd="1" destOrd="0" presId="urn:microsoft.com/office/officeart/2005/8/layout/vList2#1"/>
    <dgm:cxn modelId="{7C4EA807-67CC-4FB4-B65D-BC2C96597DF0}" type="presParOf" srcId="{9E4925F3-A84B-41A2-81C0-B1934A11EBDB}" destId="{5A0E713A-E2E3-4CC1-877D-E33EC52F4136}" srcOrd="2" destOrd="0" presId="urn:microsoft.com/office/officeart/2005/8/layout/vList2#1"/>
    <dgm:cxn modelId="{652B5605-400B-4496-885C-DC882DB2C4CA}" type="presParOf" srcId="{9E4925F3-A84B-41A2-81C0-B1934A11EBDB}" destId="{BF213CF7-E0E6-4293-9DA5-C09E0BAC5FAA}" srcOrd="3" destOrd="0" presId="urn:microsoft.com/office/officeart/2005/8/layout/vList2#1"/>
    <dgm:cxn modelId="{FD0862E5-555E-4E4D-AAD6-728DD6C985FD}" type="presParOf" srcId="{9E4925F3-A84B-41A2-81C0-B1934A11EBDB}" destId="{2A9F7A49-2465-4CF9-BA70-BE1B0CDFD961}" srcOrd="4" destOrd="0" presId="urn:microsoft.com/office/officeart/2005/8/layout/vList2#1"/>
    <dgm:cxn modelId="{4D0DA7BB-C5BD-4D7B-BE44-B1277AB4B6E9}" type="presParOf" srcId="{9E4925F3-A84B-41A2-81C0-B1934A11EBDB}" destId="{E6E94FE4-16B1-4C8A-A1B2-D229DD0FC3A8}" srcOrd="5" destOrd="0" presId="urn:microsoft.com/office/officeart/2005/8/layout/vList2#1"/>
    <dgm:cxn modelId="{E7307A61-E68F-4304-9042-33CBA4AACB69}" type="presParOf" srcId="{9E4925F3-A84B-41A2-81C0-B1934A11EBDB}" destId="{379F4310-874F-4923-B5A5-3C164C8A66E1}" srcOrd="6" destOrd="0" presId="urn:microsoft.com/office/officeart/2005/8/layout/vList2#1"/>
    <dgm:cxn modelId="{20D7587A-7BF4-4986-B8B3-D045FAA9A6A8}" type="presParOf" srcId="{9E4925F3-A84B-41A2-81C0-B1934A11EBDB}" destId="{0E0278EC-0507-4726-9E38-F7EBF145E788}" srcOrd="7" destOrd="0" presId="urn:microsoft.com/office/officeart/2005/8/layout/vList2#1"/>
    <dgm:cxn modelId="{4E020FB2-77DD-4257-99E2-810847AEFA3A}" type="presParOf" srcId="{9E4925F3-A84B-41A2-81C0-B1934A11EBDB}" destId="{25B964EA-C9EF-482B-9FE5-D4E081B96027}" srcOrd="8" destOrd="0" presId="urn:microsoft.com/office/officeart/2005/8/layout/vLis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F1BA76-E07D-4457-B05C-8F41BEFD5570}" type="doc">
      <dgm:prSet loTypeId="urn:microsoft.com/office/officeart/2005/8/layout/vList2#2" loCatId="list" qsTypeId="urn:microsoft.com/office/officeart/2005/8/quickstyle/simple1#2" qsCatId="simple" csTypeId="urn:microsoft.com/office/officeart/2005/8/colors/accent1_2#2" csCatId="accent1" phldr="1"/>
      <dgm:spPr/>
    </dgm:pt>
    <dgm:pt modelId="{A08BDB20-6FAB-4947-B4F8-946FDF03C744}">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Requirements Identified</a:t>
          </a:r>
        </a:p>
      </dgm:t>
    </dgm:pt>
    <dgm:pt modelId="{A489CD4C-39AB-445D-BBD3-8DE195509F0C}" type="parTrans" cxnId="{0731C5CE-0A3B-45AC-8550-856A3041D270}">
      <dgm:prSet/>
      <dgm:spPr/>
      <dgm:t>
        <a:bodyPr/>
        <a:lstStyle/>
        <a:p>
          <a:endParaRPr lang="en-US"/>
        </a:p>
      </dgm:t>
    </dgm:pt>
    <dgm:pt modelId="{05E625C5-C243-4CA2-ACAA-E79F6CE1813B}" type="sibTrans" cxnId="{0731C5CE-0A3B-45AC-8550-856A3041D270}">
      <dgm:prSet/>
      <dgm:spPr/>
      <dgm:t>
        <a:bodyPr/>
        <a:lstStyle/>
        <a:p>
          <a:endParaRPr lang="en-US"/>
        </a:p>
      </dgm:t>
    </dgm:pt>
    <dgm:pt modelId="{36FECA07-F341-46C2-B800-5054D261331E}">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Feasibility and Scope</a:t>
          </a:r>
        </a:p>
      </dgm:t>
    </dgm:pt>
    <dgm:pt modelId="{64E4FE1A-BFDB-4173-BB71-D683B40C1C66}" type="parTrans" cxnId="{AC57ED76-50DC-49CF-BF83-3B0D18ADA96D}">
      <dgm:prSet/>
      <dgm:spPr/>
      <dgm:t>
        <a:bodyPr/>
        <a:lstStyle/>
        <a:p>
          <a:endParaRPr lang="en-US"/>
        </a:p>
      </dgm:t>
    </dgm:pt>
    <dgm:pt modelId="{7F8B68C9-1F69-45BD-B4B9-CE040EF6968D}" type="sibTrans" cxnId="{AC57ED76-50DC-49CF-BF83-3B0D18ADA96D}">
      <dgm:prSet/>
      <dgm:spPr/>
      <dgm:t>
        <a:bodyPr/>
        <a:lstStyle/>
        <a:p>
          <a:endParaRPr lang="en-US"/>
        </a:p>
      </dgm:t>
    </dgm:pt>
    <dgm:pt modelId="{C786527A-DEB5-4403-9C35-3BE0E688585A}">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Proposed Methodology</a:t>
          </a:r>
        </a:p>
      </dgm:t>
    </dgm:pt>
    <dgm:pt modelId="{AAAB6229-C93C-41F7-BCA5-574395D25DBD}" type="parTrans" cxnId="{66A3841A-C72B-406E-B2E0-CCC47E70A0E1}">
      <dgm:prSet/>
      <dgm:spPr/>
      <dgm:t>
        <a:bodyPr/>
        <a:lstStyle/>
        <a:p>
          <a:endParaRPr lang="en-US"/>
        </a:p>
      </dgm:t>
    </dgm:pt>
    <dgm:pt modelId="{B6BD2E49-DCF4-4015-BF84-74D0D3371031}" type="sibTrans" cxnId="{66A3841A-C72B-406E-B2E0-CCC47E70A0E1}">
      <dgm:prSet/>
      <dgm:spPr/>
      <dgm:t>
        <a:bodyPr/>
        <a:lstStyle/>
        <a:p>
          <a:endParaRPr lang="en-US"/>
        </a:p>
      </dgm:t>
    </dgm:pt>
    <dgm:pt modelId="{37FC5575-E31E-4BD0-96C3-991D005ED8B7}">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Risk Identified</a:t>
          </a:r>
        </a:p>
      </dgm:t>
    </dgm:pt>
    <dgm:pt modelId="{0D0E58B3-6826-4326-953F-1052EBDB3A32}" type="parTrans" cxnId="{AE266AFE-899D-4DF7-88E4-EC6EF3B08B98}">
      <dgm:prSet/>
      <dgm:spPr/>
      <dgm:t>
        <a:bodyPr/>
        <a:lstStyle/>
        <a:p>
          <a:endParaRPr lang="en-IN"/>
        </a:p>
      </dgm:t>
    </dgm:pt>
    <dgm:pt modelId="{D4A9F819-564D-4F03-865E-CA27B4C227C3}" type="sibTrans" cxnId="{AE266AFE-899D-4DF7-88E4-EC6EF3B08B98}">
      <dgm:prSet/>
      <dgm:spPr/>
      <dgm:t>
        <a:bodyPr/>
        <a:lstStyle/>
        <a:p>
          <a:endParaRPr lang="en-IN"/>
        </a:p>
      </dgm:t>
    </dgm:pt>
    <dgm:pt modelId="{B41E7063-26DC-42EE-A4F1-517A479F03E9}">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Backup plan</a:t>
          </a:r>
        </a:p>
      </dgm:t>
    </dgm:pt>
    <dgm:pt modelId="{46A84997-E426-4EA0-9911-06EB825ADD00}" type="parTrans" cxnId="{3092AE3A-EBE1-4CA3-B26C-EBF5C0BA58A0}">
      <dgm:prSet/>
      <dgm:spPr/>
      <dgm:t>
        <a:bodyPr/>
        <a:lstStyle/>
        <a:p>
          <a:endParaRPr lang="en-IN"/>
        </a:p>
      </dgm:t>
    </dgm:pt>
    <dgm:pt modelId="{1370A8C0-6EF9-498E-9864-27EA2F0E2E3F}" type="sibTrans" cxnId="{3092AE3A-EBE1-4CA3-B26C-EBF5C0BA58A0}">
      <dgm:prSet/>
      <dgm:spPr/>
      <dgm:t>
        <a:bodyPr/>
        <a:lstStyle/>
        <a:p>
          <a:endParaRPr lang="en-IN"/>
        </a:p>
      </dgm:t>
    </dgm:pt>
    <dgm:pt modelId="{9E4925F3-A84B-41A2-81C0-B1934A11EBDB}" type="pres">
      <dgm:prSet presAssocID="{4EF1BA76-E07D-4457-B05C-8F41BEFD5570}" presName="linear" presStyleCnt="0">
        <dgm:presLayoutVars>
          <dgm:animLvl val="lvl"/>
          <dgm:resizeHandles val="exact"/>
        </dgm:presLayoutVars>
      </dgm:prSet>
      <dgm:spPr/>
    </dgm:pt>
    <dgm:pt modelId="{E59A99F6-5BA9-468B-9747-FBF64C0AEE2E}" type="pres">
      <dgm:prSet presAssocID="{A08BDB20-6FAB-4947-B4F8-946FDF03C744}" presName="parentText" presStyleLbl="node1" presStyleIdx="0" presStyleCnt="5" custLinFactY="-14184" custLinFactNeighborX="-106" custLinFactNeighborY="-100000">
        <dgm:presLayoutVars>
          <dgm:chMax val="0"/>
          <dgm:bulletEnabled val="1"/>
        </dgm:presLayoutVars>
      </dgm:prSet>
      <dgm:spPr/>
    </dgm:pt>
    <dgm:pt modelId="{B9CBF624-FA9A-4118-A189-918DCC02B127}" type="pres">
      <dgm:prSet presAssocID="{05E625C5-C243-4CA2-ACAA-E79F6CE1813B}" presName="spacer" presStyleCnt="0"/>
      <dgm:spPr/>
    </dgm:pt>
    <dgm:pt modelId="{5A0E713A-E2E3-4CC1-877D-E33EC52F4136}" type="pres">
      <dgm:prSet presAssocID="{36FECA07-F341-46C2-B800-5054D261331E}" presName="parentText" presStyleLbl="node1" presStyleIdx="1" presStyleCnt="5" custLinFactNeighborX="-12658" custLinFactNeighborY="-4237">
        <dgm:presLayoutVars>
          <dgm:chMax val="0"/>
          <dgm:bulletEnabled val="1"/>
        </dgm:presLayoutVars>
      </dgm:prSet>
      <dgm:spPr/>
    </dgm:pt>
    <dgm:pt modelId="{BF213CF7-E0E6-4293-9DA5-C09E0BAC5FAA}" type="pres">
      <dgm:prSet presAssocID="{7F8B68C9-1F69-45BD-B4B9-CE040EF6968D}" presName="spacer" presStyleCnt="0"/>
      <dgm:spPr/>
    </dgm:pt>
    <dgm:pt modelId="{ABFB0C60-2C51-41C6-BC24-C5CEB39771A0}" type="pres">
      <dgm:prSet presAssocID="{37FC5575-E31E-4BD0-96C3-991D005ED8B7}" presName="parentText" presStyleLbl="node1" presStyleIdx="2" presStyleCnt="5">
        <dgm:presLayoutVars>
          <dgm:chMax val="0"/>
          <dgm:bulletEnabled val="1"/>
        </dgm:presLayoutVars>
      </dgm:prSet>
      <dgm:spPr/>
    </dgm:pt>
    <dgm:pt modelId="{474385B4-E5F4-4A72-B8C4-70D2A432B40C}" type="pres">
      <dgm:prSet presAssocID="{D4A9F819-564D-4F03-865E-CA27B4C227C3}" presName="spacer" presStyleCnt="0"/>
      <dgm:spPr/>
    </dgm:pt>
    <dgm:pt modelId="{BEFE92F2-7FBF-4720-89D9-F407CD8F1C59}" type="pres">
      <dgm:prSet presAssocID="{B41E7063-26DC-42EE-A4F1-517A479F03E9}" presName="parentText" presStyleLbl="node1" presStyleIdx="3" presStyleCnt="5">
        <dgm:presLayoutVars>
          <dgm:chMax val="0"/>
          <dgm:bulletEnabled val="1"/>
        </dgm:presLayoutVars>
      </dgm:prSet>
      <dgm:spPr/>
    </dgm:pt>
    <dgm:pt modelId="{3EBD99E8-D78D-4788-BAD8-3F96B03757BC}" type="pres">
      <dgm:prSet presAssocID="{1370A8C0-6EF9-498E-9864-27EA2F0E2E3F}" presName="spacer" presStyleCnt="0"/>
      <dgm:spPr/>
    </dgm:pt>
    <dgm:pt modelId="{2A9F7A49-2465-4CF9-BA70-BE1B0CDFD961}" type="pres">
      <dgm:prSet presAssocID="{C786527A-DEB5-4403-9C35-3BE0E688585A}" presName="parentText" presStyleLbl="node1" presStyleIdx="4" presStyleCnt="5" custLinFactNeighborX="-6329">
        <dgm:presLayoutVars>
          <dgm:chMax val="0"/>
          <dgm:bulletEnabled val="1"/>
        </dgm:presLayoutVars>
      </dgm:prSet>
      <dgm:spPr/>
    </dgm:pt>
  </dgm:ptLst>
  <dgm:cxnLst>
    <dgm:cxn modelId="{42BBD30A-93FD-4CC4-BCD5-B6888AD63EBE}" type="presOf" srcId="{B41E7063-26DC-42EE-A4F1-517A479F03E9}" destId="{BEFE92F2-7FBF-4720-89D9-F407CD8F1C59}" srcOrd="0" destOrd="0" presId="urn:microsoft.com/office/officeart/2005/8/layout/vList2#2"/>
    <dgm:cxn modelId="{66A3841A-C72B-406E-B2E0-CCC47E70A0E1}" srcId="{4EF1BA76-E07D-4457-B05C-8F41BEFD5570}" destId="{C786527A-DEB5-4403-9C35-3BE0E688585A}" srcOrd="4" destOrd="0" parTransId="{AAAB6229-C93C-41F7-BCA5-574395D25DBD}" sibTransId="{B6BD2E49-DCF4-4015-BF84-74D0D3371031}"/>
    <dgm:cxn modelId="{3092AE3A-EBE1-4CA3-B26C-EBF5C0BA58A0}" srcId="{4EF1BA76-E07D-4457-B05C-8F41BEFD5570}" destId="{B41E7063-26DC-42EE-A4F1-517A479F03E9}" srcOrd="3" destOrd="0" parTransId="{46A84997-E426-4EA0-9911-06EB825ADD00}" sibTransId="{1370A8C0-6EF9-498E-9864-27EA2F0E2E3F}"/>
    <dgm:cxn modelId="{12BF0564-FC48-4CF5-9CA1-3CD2A49B8995}" type="presOf" srcId="{A08BDB20-6FAB-4947-B4F8-946FDF03C744}" destId="{E59A99F6-5BA9-468B-9747-FBF64C0AEE2E}" srcOrd="0" destOrd="0" presId="urn:microsoft.com/office/officeart/2005/8/layout/vList2#2"/>
    <dgm:cxn modelId="{3D2B2668-3330-4511-870B-74750882F07F}" type="presOf" srcId="{4EF1BA76-E07D-4457-B05C-8F41BEFD5570}" destId="{9E4925F3-A84B-41A2-81C0-B1934A11EBDB}" srcOrd="0" destOrd="0" presId="urn:microsoft.com/office/officeart/2005/8/layout/vList2#2"/>
    <dgm:cxn modelId="{EB87B24F-6194-4E37-B0FE-F1DB74846821}" type="presOf" srcId="{37FC5575-E31E-4BD0-96C3-991D005ED8B7}" destId="{ABFB0C60-2C51-41C6-BC24-C5CEB39771A0}" srcOrd="0" destOrd="0" presId="urn:microsoft.com/office/officeart/2005/8/layout/vList2#2"/>
    <dgm:cxn modelId="{AC57ED76-50DC-49CF-BF83-3B0D18ADA96D}" srcId="{4EF1BA76-E07D-4457-B05C-8F41BEFD5570}" destId="{36FECA07-F341-46C2-B800-5054D261331E}" srcOrd="1" destOrd="0" parTransId="{64E4FE1A-BFDB-4173-BB71-D683B40C1C66}" sibTransId="{7F8B68C9-1F69-45BD-B4B9-CE040EF6968D}"/>
    <dgm:cxn modelId="{F5273CCB-CBA5-410C-A1E6-C6DC61EB3031}" type="presOf" srcId="{C786527A-DEB5-4403-9C35-3BE0E688585A}" destId="{2A9F7A49-2465-4CF9-BA70-BE1B0CDFD961}" srcOrd="0" destOrd="0" presId="urn:microsoft.com/office/officeart/2005/8/layout/vList2#2"/>
    <dgm:cxn modelId="{0731C5CE-0A3B-45AC-8550-856A3041D270}" srcId="{4EF1BA76-E07D-4457-B05C-8F41BEFD5570}" destId="{A08BDB20-6FAB-4947-B4F8-946FDF03C744}" srcOrd="0" destOrd="0" parTransId="{A489CD4C-39AB-445D-BBD3-8DE195509F0C}" sibTransId="{05E625C5-C243-4CA2-ACAA-E79F6CE1813B}"/>
    <dgm:cxn modelId="{D15412E9-B37C-40FD-A1E3-18555612D779}" type="presOf" srcId="{36FECA07-F341-46C2-B800-5054D261331E}" destId="{5A0E713A-E2E3-4CC1-877D-E33EC52F4136}" srcOrd="0" destOrd="0" presId="urn:microsoft.com/office/officeart/2005/8/layout/vList2#2"/>
    <dgm:cxn modelId="{AE266AFE-899D-4DF7-88E4-EC6EF3B08B98}" srcId="{4EF1BA76-E07D-4457-B05C-8F41BEFD5570}" destId="{37FC5575-E31E-4BD0-96C3-991D005ED8B7}" srcOrd="2" destOrd="0" parTransId="{0D0E58B3-6826-4326-953F-1052EBDB3A32}" sibTransId="{D4A9F819-564D-4F03-865E-CA27B4C227C3}"/>
    <dgm:cxn modelId="{ECA4CAFF-7D38-424F-AF50-4621A2EBB03C}" type="presParOf" srcId="{9E4925F3-A84B-41A2-81C0-B1934A11EBDB}" destId="{E59A99F6-5BA9-468B-9747-FBF64C0AEE2E}" srcOrd="0" destOrd="0" presId="urn:microsoft.com/office/officeart/2005/8/layout/vList2#2"/>
    <dgm:cxn modelId="{FD8CB63D-FBB0-45FE-8F6B-0F73B3DBFBB3}" type="presParOf" srcId="{9E4925F3-A84B-41A2-81C0-B1934A11EBDB}" destId="{B9CBF624-FA9A-4118-A189-918DCC02B127}" srcOrd="1" destOrd="0" presId="urn:microsoft.com/office/officeart/2005/8/layout/vList2#2"/>
    <dgm:cxn modelId="{35F71980-E8C9-4182-A618-4764BE389390}" type="presParOf" srcId="{9E4925F3-A84B-41A2-81C0-B1934A11EBDB}" destId="{5A0E713A-E2E3-4CC1-877D-E33EC52F4136}" srcOrd="2" destOrd="0" presId="urn:microsoft.com/office/officeart/2005/8/layout/vList2#2"/>
    <dgm:cxn modelId="{48228AE3-F9A1-4F0C-A13F-7137D27059F3}" type="presParOf" srcId="{9E4925F3-A84B-41A2-81C0-B1934A11EBDB}" destId="{BF213CF7-E0E6-4293-9DA5-C09E0BAC5FAA}" srcOrd="3" destOrd="0" presId="urn:microsoft.com/office/officeart/2005/8/layout/vList2#2"/>
    <dgm:cxn modelId="{0FF54AE6-AF43-42E6-B589-C805BC4C6EB6}" type="presParOf" srcId="{9E4925F3-A84B-41A2-81C0-B1934A11EBDB}" destId="{ABFB0C60-2C51-41C6-BC24-C5CEB39771A0}" srcOrd="4" destOrd="0" presId="urn:microsoft.com/office/officeart/2005/8/layout/vList2#2"/>
    <dgm:cxn modelId="{A47F42B4-E181-4E34-B539-E2C7107C3EF5}" type="presParOf" srcId="{9E4925F3-A84B-41A2-81C0-B1934A11EBDB}" destId="{474385B4-E5F4-4A72-B8C4-70D2A432B40C}" srcOrd="5" destOrd="0" presId="urn:microsoft.com/office/officeart/2005/8/layout/vList2#2"/>
    <dgm:cxn modelId="{10B16DC6-DF93-47DC-9059-0B3CFEA38D60}" type="presParOf" srcId="{9E4925F3-A84B-41A2-81C0-B1934A11EBDB}" destId="{BEFE92F2-7FBF-4720-89D9-F407CD8F1C59}" srcOrd="6" destOrd="0" presId="urn:microsoft.com/office/officeart/2005/8/layout/vList2#2"/>
    <dgm:cxn modelId="{3F323E72-0AFC-44FD-9557-EF9ED0557D80}" type="presParOf" srcId="{9E4925F3-A84B-41A2-81C0-B1934A11EBDB}" destId="{3EBD99E8-D78D-4788-BAD8-3F96B03757BC}" srcOrd="7" destOrd="0" presId="urn:microsoft.com/office/officeart/2005/8/layout/vList2#2"/>
    <dgm:cxn modelId="{A5A115AA-03BF-47B3-80EB-21BF76B80868}" type="presParOf" srcId="{9E4925F3-A84B-41A2-81C0-B1934A11EBDB}" destId="{2A9F7A49-2465-4CF9-BA70-BE1B0CDFD961}" srcOrd="8" destOrd="0" presId="urn:microsoft.com/office/officeart/2005/8/layout/vList2#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F1BA76-E07D-4457-B05C-8F41BEFD5570}" type="doc">
      <dgm:prSet loTypeId="urn:microsoft.com/office/officeart/2005/8/layout/vList2#1" loCatId="list" qsTypeId="urn:microsoft.com/office/officeart/2005/8/quickstyle/simple1#1" qsCatId="simple" csTypeId="urn:microsoft.com/office/officeart/2005/8/colors/accent1_2#1" csCatId="accent1" phldr="1"/>
      <dgm:spPr/>
    </dgm:pt>
    <dgm:pt modelId="{A08BDB20-6FAB-4947-B4F8-946FDF03C744}">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UML Diagrams</a:t>
          </a:r>
          <a:endParaRPr lang="en-US" sz="2800" dirty="0"/>
        </a:p>
      </dgm:t>
    </dgm:pt>
    <dgm:pt modelId="{A489CD4C-39AB-445D-BBD3-8DE195509F0C}" type="parTrans" cxnId="{47514E4F-FF18-4A01-BB35-626C9843C48C}">
      <dgm:prSet/>
      <dgm:spPr/>
      <dgm:t>
        <a:bodyPr/>
        <a:lstStyle/>
        <a:p>
          <a:endParaRPr lang="en-US"/>
        </a:p>
      </dgm:t>
    </dgm:pt>
    <dgm:pt modelId="{05E625C5-C243-4CA2-ACAA-E79F6CE1813B}" type="sibTrans" cxnId="{47514E4F-FF18-4A01-BB35-626C9843C48C}">
      <dgm:prSet/>
      <dgm:spPr/>
      <dgm:t>
        <a:bodyPr/>
        <a:lstStyle/>
        <a:p>
          <a:endParaRPr lang="en-US"/>
        </a:p>
      </dgm:t>
    </dgm:pt>
    <dgm:pt modelId="{8781FE07-6651-4402-9BC1-B611E9508142}">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Expected Outcome</a:t>
          </a:r>
        </a:p>
      </dgm:t>
    </dgm:pt>
    <dgm:pt modelId="{02480D63-24B7-4236-9486-DABBB0907105}" type="sibTrans" cxnId="{37509DA6-15F8-49B5-BBF9-3EA44529E526}">
      <dgm:prSet/>
      <dgm:spPr/>
      <dgm:t>
        <a:bodyPr/>
        <a:lstStyle/>
        <a:p>
          <a:endParaRPr lang="en-IN"/>
        </a:p>
      </dgm:t>
    </dgm:pt>
    <dgm:pt modelId="{C22B2738-863D-4B83-8CE5-7A89A3D75A77}" type="parTrans" cxnId="{37509DA6-15F8-49B5-BBF9-3EA44529E526}">
      <dgm:prSet/>
      <dgm:spPr/>
      <dgm:t>
        <a:bodyPr/>
        <a:lstStyle/>
        <a:p>
          <a:endParaRPr lang="en-IN"/>
        </a:p>
      </dgm:t>
    </dgm:pt>
    <dgm:pt modelId="{36FECA07-F341-46C2-B800-5054D261331E}">
      <dgm:prSet phldrT="[Text]" phldr="0" custT="1"/>
      <dgm:spPr>
        <a:solidFill>
          <a:srgbClr val="002060"/>
        </a:solidFill>
      </dgm:spPr>
      <dgm:t>
        <a:bodyPr vert="horz" wrap="square"/>
        <a:lstStyle/>
        <a:p>
          <a:pPr>
            <a:lnSpc>
              <a:spcPct val="100000"/>
            </a:lnSpc>
            <a:spcBef>
              <a:spcPct val="0"/>
            </a:spcBef>
            <a:spcAft>
              <a:spcPct val="35000"/>
            </a:spcAft>
          </a:pPr>
          <a:r>
            <a:rPr lang="en-US" sz="2800" b="1" dirty="0">
              <a:latin typeface="Times New Roman" panose="02020603050405020304" pitchFamily="18" charset="0"/>
              <a:cs typeface="Times New Roman" panose="02020603050405020304" pitchFamily="18" charset="0"/>
            </a:rPr>
            <a:t>Timeline Chart </a:t>
          </a:r>
        </a:p>
      </dgm:t>
    </dgm:pt>
    <dgm:pt modelId="{7F8B68C9-1F69-45BD-B4B9-CE040EF6968D}" type="sibTrans" cxnId="{C4D70097-F74A-4A0F-A8C3-6B7725DB26F3}">
      <dgm:prSet/>
      <dgm:spPr/>
      <dgm:t>
        <a:bodyPr/>
        <a:lstStyle/>
        <a:p>
          <a:endParaRPr lang="en-US"/>
        </a:p>
      </dgm:t>
    </dgm:pt>
    <dgm:pt modelId="{64E4FE1A-BFDB-4173-BB71-D683B40C1C66}" type="parTrans" cxnId="{C4D70097-F74A-4A0F-A8C3-6B7725DB26F3}">
      <dgm:prSet/>
      <dgm:spPr/>
      <dgm:t>
        <a:bodyPr/>
        <a:lstStyle/>
        <a:p>
          <a:endParaRPr lang="en-US"/>
        </a:p>
      </dgm:t>
    </dgm:pt>
    <dgm:pt modelId="{B239CD13-055D-4687-BD65-F85266C1E9D4}">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References</a:t>
          </a:r>
        </a:p>
      </dgm:t>
    </dgm:pt>
    <dgm:pt modelId="{BD319504-3D0A-4C83-8D99-B86BF3C12587}" type="sibTrans" cxnId="{13E63D50-B485-4BF2-88D1-820EDDCB750A}">
      <dgm:prSet/>
      <dgm:spPr/>
      <dgm:t>
        <a:bodyPr/>
        <a:lstStyle/>
        <a:p>
          <a:endParaRPr lang="en-US"/>
        </a:p>
      </dgm:t>
    </dgm:pt>
    <dgm:pt modelId="{707B6CEE-940D-4AAA-9914-7199AEFA25BA}" type="parTrans" cxnId="{13E63D50-B485-4BF2-88D1-820EDDCB750A}">
      <dgm:prSet/>
      <dgm:spPr/>
      <dgm:t>
        <a:bodyPr/>
        <a:lstStyle/>
        <a:p>
          <a:endParaRPr lang="en-US"/>
        </a:p>
      </dgm:t>
    </dgm:pt>
    <dgm:pt modelId="{C786527A-DEB5-4403-9C35-3BE0E688585A}">
      <dgm:prSet phldrT="[Text]" custT="1"/>
      <dgm:spPr>
        <a:solidFill>
          <a:srgbClr val="002060"/>
        </a:solidFill>
      </dgm:spPr>
      <dgm:t>
        <a:bodyPr/>
        <a:lstStyle/>
        <a:p>
          <a:r>
            <a:rPr lang="en-US" sz="2800" b="1" dirty="0">
              <a:latin typeface="Times New Roman" panose="02020603050405020304" pitchFamily="18" charset="0"/>
              <a:cs typeface="Times New Roman" panose="02020603050405020304" pitchFamily="18" charset="0"/>
            </a:rPr>
            <a:t>Conclusion</a:t>
          </a:r>
        </a:p>
      </dgm:t>
    </dgm:pt>
    <dgm:pt modelId="{B6BD2E49-DCF4-4015-BF84-74D0D3371031}" type="sibTrans" cxnId="{DEDA6BDC-D1DF-4703-8900-18D8B3D23BE7}">
      <dgm:prSet/>
      <dgm:spPr/>
      <dgm:t>
        <a:bodyPr/>
        <a:lstStyle/>
        <a:p>
          <a:endParaRPr lang="en-US"/>
        </a:p>
      </dgm:t>
    </dgm:pt>
    <dgm:pt modelId="{AAAB6229-C93C-41F7-BCA5-574395D25DBD}" type="parTrans" cxnId="{DEDA6BDC-D1DF-4703-8900-18D8B3D23BE7}">
      <dgm:prSet/>
      <dgm:spPr/>
      <dgm:t>
        <a:bodyPr/>
        <a:lstStyle/>
        <a:p>
          <a:endParaRPr lang="en-US"/>
        </a:p>
      </dgm:t>
    </dgm:pt>
    <dgm:pt modelId="{9E4925F3-A84B-41A2-81C0-B1934A11EBDB}" type="pres">
      <dgm:prSet presAssocID="{4EF1BA76-E07D-4457-B05C-8F41BEFD5570}" presName="linear" presStyleCnt="0">
        <dgm:presLayoutVars>
          <dgm:animLvl val="lvl"/>
          <dgm:resizeHandles val="exact"/>
        </dgm:presLayoutVars>
      </dgm:prSet>
      <dgm:spPr/>
    </dgm:pt>
    <dgm:pt modelId="{E59A99F6-5BA9-468B-9747-FBF64C0AEE2E}" type="pres">
      <dgm:prSet presAssocID="{A08BDB20-6FAB-4947-B4F8-946FDF03C744}" presName="parentText" presStyleLbl="node1" presStyleIdx="0" presStyleCnt="5" custLinFactNeighborX="-1076" custLinFactNeighborY="-20948">
        <dgm:presLayoutVars>
          <dgm:chMax val="0"/>
          <dgm:bulletEnabled val="1"/>
        </dgm:presLayoutVars>
      </dgm:prSet>
      <dgm:spPr/>
    </dgm:pt>
    <dgm:pt modelId="{B9CBF624-FA9A-4118-A189-918DCC02B127}" type="pres">
      <dgm:prSet presAssocID="{05E625C5-C243-4CA2-ACAA-E79F6CE1813B}" presName="spacer" presStyleCnt="0"/>
      <dgm:spPr/>
    </dgm:pt>
    <dgm:pt modelId="{F3800FEE-200D-4D55-A522-4E25A8C12B59}" type="pres">
      <dgm:prSet presAssocID="{8781FE07-6651-4402-9BC1-B611E9508142}" presName="parentText" presStyleLbl="node1" presStyleIdx="1" presStyleCnt="5">
        <dgm:presLayoutVars>
          <dgm:chMax val="0"/>
          <dgm:bulletEnabled val="1"/>
        </dgm:presLayoutVars>
      </dgm:prSet>
      <dgm:spPr/>
    </dgm:pt>
    <dgm:pt modelId="{1E2DD7D5-0E4A-4035-B244-7AC0C33CDD72}" type="pres">
      <dgm:prSet presAssocID="{02480D63-24B7-4236-9486-DABBB0907105}" presName="spacer" presStyleCnt="0"/>
      <dgm:spPr/>
    </dgm:pt>
    <dgm:pt modelId="{5A0E713A-E2E3-4CC1-877D-E33EC52F4136}" type="pres">
      <dgm:prSet presAssocID="{36FECA07-F341-46C2-B800-5054D261331E}" presName="parentText" presStyleLbl="node1" presStyleIdx="2" presStyleCnt="5">
        <dgm:presLayoutVars>
          <dgm:chMax val="0"/>
          <dgm:bulletEnabled val="1"/>
        </dgm:presLayoutVars>
      </dgm:prSet>
      <dgm:spPr/>
    </dgm:pt>
    <dgm:pt modelId="{BF213CF7-E0E6-4293-9DA5-C09E0BAC5FAA}" type="pres">
      <dgm:prSet presAssocID="{7F8B68C9-1F69-45BD-B4B9-CE040EF6968D}" presName="spacer" presStyleCnt="0"/>
      <dgm:spPr/>
    </dgm:pt>
    <dgm:pt modelId="{2A9F7A49-2465-4CF9-BA70-BE1B0CDFD961}" type="pres">
      <dgm:prSet presAssocID="{C786527A-DEB5-4403-9C35-3BE0E688585A}" presName="parentText" presStyleLbl="node1" presStyleIdx="3" presStyleCnt="5">
        <dgm:presLayoutVars>
          <dgm:chMax val="0"/>
          <dgm:bulletEnabled val="1"/>
        </dgm:presLayoutVars>
      </dgm:prSet>
      <dgm:spPr/>
    </dgm:pt>
    <dgm:pt modelId="{E6E94FE4-16B1-4C8A-A1B2-D229DD0FC3A8}" type="pres">
      <dgm:prSet presAssocID="{B6BD2E49-DCF4-4015-BF84-74D0D3371031}" presName="spacer" presStyleCnt="0"/>
      <dgm:spPr/>
    </dgm:pt>
    <dgm:pt modelId="{379F4310-874F-4923-B5A5-3C164C8A66E1}" type="pres">
      <dgm:prSet presAssocID="{B239CD13-055D-4687-BD65-F85266C1E9D4}" presName="parentText" presStyleLbl="node1" presStyleIdx="4" presStyleCnt="5">
        <dgm:presLayoutVars>
          <dgm:chMax val="0"/>
          <dgm:bulletEnabled val="1"/>
        </dgm:presLayoutVars>
      </dgm:prSet>
      <dgm:spPr/>
    </dgm:pt>
  </dgm:ptLst>
  <dgm:cxnLst>
    <dgm:cxn modelId="{B085F21E-20B7-4E30-9025-DD136F22C9D6}" type="presOf" srcId="{A08BDB20-6FAB-4947-B4F8-946FDF03C744}" destId="{E59A99F6-5BA9-468B-9747-FBF64C0AEE2E}" srcOrd="0" destOrd="0" presId="urn:microsoft.com/office/officeart/2005/8/layout/vList2#1"/>
    <dgm:cxn modelId="{47514E4F-FF18-4A01-BB35-626C9843C48C}" srcId="{4EF1BA76-E07D-4457-B05C-8F41BEFD5570}" destId="{A08BDB20-6FAB-4947-B4F8-946FDF03C744}" srcOrd="0" destOrd="0" parTransId="{A489CD4C-39AB-445D-BBD3-8DE195509F0C}" sibTransId="{05E625C5-C243-4CA2-ACAA-E79F6CE1813B}"/>
    <dgm:cxn modelId="{E84B914F-27F9-4D83-B136-E0EF3F950188}" type="presOf" srcId="{C786527A-DEB5-4403-9C35-3BE0E688585A}" destId="{2A9F7A49-2465-4CF9-BA70-BE1B0CDFD961}" srcOrd="0" destOrd="0" presId="urn:microsoft.com/office/officeart/2005/8/layout/vList2#1"/>
    <dgm:cxn modelId="{13E63D50-B485-4BF2-88D1-820EDDCB750A}" srcId="{4EF1BA76-E07D-4457-B05C-8F41BEFD5570}" destId="{B239CD13-055D-4687-BD65-F85266C1E9D4}" srcOrd="4" destOrd="0" parTransId="{707B6CEE-940D-4AAA-9914-7199AEFA25BA}" sibTransId="{BD319504-3D0A-4C83-8D99-B86BF3C12587}"/>
    <dgm:cxn modelId="{6A19975A-FFE2-43D9-8EEC-120AF19FC796}" type="presOf" srcId="{36FECA07-F341-46C2-B800-5054D261331E}" destId="{5A0E713A-E2E3-4CC1-877D-E33EC52F4136}" srcOrd="0" destOrd="0" presId="urn:microsoft.com/office/officeart/2005/8/layout/vList2#1"/>
    <dgm:cxn modelId="{1E2EC58F-480F-40C3-8FA1-61C9E5621AF1}" type="presOf" srcId="{8781FE07-6651-4402-9BC1-B611E9508142}" destId="{F3800FEE-200D-4D55-A522-4E25A8C12B59}" srcOrd="0" destOrd="0" presId="urn:microsoft.com/office/officeart/2005/8/layout/vList2#1"/>
    <dgm:cxn modelId="{C4D70097-F74A-4A0F-A8C3-6B7725DB26F3}" srcId="{4EF1BA76-E07D-4457-B05C-8F41BEFD5570}" destId="{36FECA07-F341-46C2-B800-5054D261331E}" srcOrd="2" destOrd="0" parTransId="{64E4FE1A-BFDB-4173-BB71-D683B40C1C66}" sibTransId="{7F8B68C9-1F69-45BD-B4B9-CE040EF6968D}"/>
    <dgm:cxn modelId="{37509DA6-15F8-49B5-BBF9-3EA44529E526}" srcId="{4EF1BA76-E07D-4457-B05C-8F41BEFD5570}" destId="{8781FE07-6651-4402-9BC1-B611E9508142}" srcOrd="1" destOrd="0" parTransId="{C22B2738-863D-4B83-8CE5-7A89A3D75A77}" sibTransId="{02480D63-24B7-4236-9486-DABBB0907105}"/>
    <dgm:cxn modelId="{F0231DB2-6E8A-4B4E-93BC-546831322B04}" type="presOf" srcId="{B239CD13-055D-4687-BD65-F85266C1E9D4}" destId="{379F4310-874F-4923-B5A5-3C164C8A66E1}" srcOrd="0" destOrd="0" presId="urn:microsoft.com/office/officeart/2005/8/layout/vList2#1"/>
    <dgm:cxn modelId="{7338CAD8-E0F8-4AA0-A3D5-4D550A015E3A}" type="presOf" srcId="{4EF1BA76-E07D-4457-B05C-8F41BEFD5570}" destId="{9E4925F3-A84B-41A2-81C0-B1934A11EBDB}" srcOrd="0" destOrd="0" presId="urn:microsoft.com/office/officeart/2005/8/layout/vList2#1"/>
    <dgm:cxn modelId="{DEDA6BDC-D1DF-4703-8900-18D8B3D23BE7}" srcId="{4EF1BA76-E07D-4457-B05C-8F41BEFD5570}" destId="{C786527A-DEB5-4403-9C35-3BE0E688585A}" srcOrd="3" destOrd="0" parTransId="{AAAB6229-C93C-41F7-BCA5-574395D25DBD}" sibTransId="{B6BD2E49-DCF4-4015-BF84-74D0D3371031}"/>
    <dgm:cxn modelId="{E80E80C3-F98D-4E16-8F84-8476CC63CD1B}" type="presParOf" srcId="{9E4925F3-A84B-41A2-81C0-B1934A11EBDB}" destId="{E59A99F6-5BA9-468B-9747-FBF64C0AEE2E}" srcOrd="0" destOrd="0" presId="urn:microsoft.com/office/officeart/2005/8/layout/vList2#1"/>
    <dgm:cxn modelId="{8D08F52E-C5C7-4A97-A78B-C911B4E0EE8E}" type="presParOf" srcId="{9E4925F3-A84B-41A2-81C0-B1934A11EBDB}" destId="{B9CBF624-FA9A-4118-A189-918DCC02B127}" srcOrd="1" destOrd="0" presId="urn:microsoft.com/office/officeart/2005/8/layout/vList2#1"/>
    <dgm:cxn modelId="{F26DF25A-EB71-47C2-9F88-9495E5F0AAAA}" type="presParOf" srcId="{9E4925F3-A84B-41A2-81C0-B1934A11EBDB}" destId="{F3800FEE-200D-4D55-A522-4E25A8C12B59}" srcOrd="2" destOrd="0" presId="urn:microsoft.com/office/officeart/2005/8/layout/vList2#1"/>
    <dgm:cxn modelId="{E10E192A-E4B8-4D60-A88A-EC4F56B1A441}" type="presParOf" srcId="{9E4925F3-A84B-41A2-81C0-B1934A11EBDB}" destId="{1E2DD7D5-0E4A-4035-B244-7AC0C33CDD72}" srcOrd="3" destOrd="0" presId="urn:microsoft.com/office/officeart/2005/8/layout/vList2#1"/>
    <dgm:cxn modelId="{7C4EA807-67CC-4FB4-B65D-BC2C96597DF0}" type="presParOf" srcId="{9E4925F3-A84B-41A2-81C0-B1934A11EBDB}" destId="{5A0E713A-E2E3-4CC1-877D-E33EC52F4136}" srcOrd="4" destOrd="0" presId="urn:microsoft.com/office/officeart/2005/8/layout/vList2#1"/>
    <dgm:cxn modelId="{652B5605-400B-4496-885C-DC882DB2C4CA}" type="presParOf" srcId="{9E4925F3-A84B-41A2-81C0-B1934A11EBDB}" destId="{BF213CF7-E0E6-4293-9DA5-C09E0BAC5FAA}" srcOrd="5" destOrd="0" presId="urn:microsoft.com/office/officeart/2005/8/layout/vList2#1"/>
    <dgm:cxn modelId="{FD0862E5-555E-4E4D-AAD6-728DD6C985FD}" type="presParOf" srcId="{9E4925F3-A84B-41A2-81C0-B1934A11EBDB}" destId="{2A9F7A49-2465-4CF9-BA70-BE1B0CDFD961}" srcOrd="6" destOrd="0" presId="urn:microsoft.com/office/officeart/2005/8/layout/vList2#1"/>
    <dgm:cxn modelId="{4D0DA7BB-C5BD-4D7B-BE44-B1277AB4B6E9}" type="presParOf" srcId="{9E4925F3-A84B-41A2-81C0-B1934A11EBDB}" destId="{E6E94FE4-16B1-4C8A-A1B2-D229DD0FC3A8}" srcOrd="7" destOrd="0" presId="urn:microsoft.com/office/officeart/2005/8/layout/vList2#1"/>
    <dgm:cxn modelId="{E7307A61-E68F-4304-9042-33CBA4AACB69}" type="presParOf" srcId="{9E4925F3-A84B-41A2-81C0-B1934A11EBDB}" destId="{379F4310-874F-4923-B5A5-3C164C8A66E1}" srcOrd="8" destOrd="0" presId="urn:microsoft.com/office/officeart/2005/8/layout/v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9A99F6-5BA9-468B-9747-FBF64C0AEE2E}">
      <dsp:nvSpPr>
        <dsp:cNvPr id="0" name=""/>
        <dsp:cNvSpPr/>
      </dsp:nvSpPr>
      <dsp:spPr>
        <a:xfrm>
          <a:off x="0" y="28773"/>
          <a:ext cx="5733143" cy="9547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Introduction</a:t>
          </a:r>
          <a:endParaRPr lang="en-US" sz="2800" kern="1200" dirty="0"/>
        </a:p>
      </dsp:txBody>
      <dsp:txXfrm>
        <a:off x="46606" y="75379"/>
        <a:ext cx="5639931" cy="861508"/>
      </dsp:txXfrm>
    </dsp:sp>
    <dsp:sp modelId="{5A0E713A-E2E3-4CC1-877D-E33EC52F4136}">
      <dsp:nvSpPr>
        <dsp:cNvPr id="0" name=""/>
        <dsp:cNvSpPr/>
      </dsp:nvSpPr>
      <dsp:spPr>
        <a:xfrm>
          <a:off x="0" y="1130373"/>
          <a:ext cx="5733143" cy="9547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10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Rationale </a:t>
          </a:r>
          <a:endParaRPr lang="en-US" sz="2800" kern="1200" dirty="0"/>
        </a:p>
      </dsp:txBody>
      <dsp:txXfrm>
        <a:off x="46606" y="1176979"/>
        <a:ext cx="5639931" cy="861508"/>
      </dsp:txXfrm>
    </dsp:sp>
    <dsp:sp modelId="{2A9F7A49-2465-4CF9-BA70-BE1B0CDFD961}">
      <dsp:nvSpPr>
        <dsp:cNvPr id="0" name=""/>
        <dsp:cNvSpPr/>
      </dsp:nvSpPr>
      <dsp:spPr>
        <a:xfrm>
          <a:off x="0" y="2231973"/>
          <a:ext cx="5733143" cy="9547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Literature Review</a:t>
          </a:r>
          <a:endParaRPr lang="en-US" sz="2800" kern="1200" dirty="0"/>
        </a:p>
      </dsp:txBody>
      <dsp:txXfrm>
        <a:off x="46606" y="2278579"/>
        <a:ext cx="5639931" cy="861508"/>
      </dsp:txXfrm>
    </dsp:sp>
    <dsp:sp modelId="{379F4310-874F-4923-B5A5-3C164C8A66E1}">
      <dsp:nvSpPr>
        <dsp:cNvPr id="0" name=""/>
        <dsp:cNvSpPr/>
      </dsp:nvSpPr>
      <dsp:spPr>
        <a:xfrm>
          <a:off x="0" y="3333573"/>
          <a:ext cx="5733143" cy="9547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Problem Statement</a:t>
          </a:r>
          <a:endParaRPr lang="en-US" sz="2800" kern="1200" dirty="0"/>
        </a:p>
      </dsp:txBody>
      <dsp:txXfrm>
        <a:off x="46606" y="3380179"/>
        <a:ext cx="5639931" cy="861508"/>
      </dsp:txXfrm>
    </dsp:sp>
    <dsp:sp modelId="{25B964EA-C9EF-482B-9FE5-D4E081B96027}">
      <dsp:nvSpPr>
        <dsp:cNvPr id="0" name=""/>
        <dsp:cNvSpPr/>
      </dsp:nvSpPr>
      <dsp:spPr>
        <a:xfrm>
          <a:off x="0" y="4394346"/>
          <a:ext cx="5733143" cy="9547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Objectives</a:t>
          </a:r>
          <a:endParaRPr lang="en-US" sz="2800" kern="1200" dirty="0"/>
        </a:p>
      </dsp:txBody>
      <dsp:txXfrm>
        <a:off x="46606" y="4440952"/>
        <a:ext cx="5639931" cy="8615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9A99F6-5BA9-468B-9747-FBF64C0AEE2E}">
      <dsp:nvSpPr>
        <dsp:cNvPr id="0" name=""/>
        <dsp:cNvSpPr/>
      </dsp:nvSpPr>
      <dsp:spPr>
        <a:xfrm>
          <a:off x="0" y="0"/>
          <a:ext cx="5455193" cy="8611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Requirements Identified</a:t>
          </a:r>
        </a:p>
      </dsp:txBody>
      <dsp:txXfrm>
        <a:off x="42036" y="42036"/>
        <a:ext cx="5371121" cy="777048"/>
      </dsp:txXfrm>
    </dsp:sp>
    <dsp:sp modelId="{5A0E713A-E2E3-4CC1-877D-E33EC52F4136}">
      <dsp:nvSpPr>
        <dsp:cNvPr id="0" name=""/>
        <dsp:cNvSpPr/>
      </dsp:nvSpPr>
      <dsp:spPr>
        <a:xfrm>
          <a:off x="0" y="1009836"/>
          <a:ext cx="5455193" cy="8611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Feasibility and Scope</a:t>
          </a:r>
        </a:p>
      </dsp:txBody>
      <dsp:txXfrm>
        <a:off x="42036" y="1051872"/>
        <a:ext cx="5371121" cy="777048"/>
      </dsp:txXfrm>
    </dsp:sp>
    <dsp:sp modelId="{ABFB0C60-2C51-41C6-BC24-C5CEB39771A0}">
      <dsp:nvSpPr>
        <dsp:cNvPr id="0" name=""/>
        <dsp:cNvSpPr/>
      </dsp:nvSpPr>
      <dsp:spPr>
        <a:xfrm>
          <a:off x="0" y="2009049"/>
          <a:ext cx="5455193" cy="8611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Risk Identified</a:t>
          </a:r>
        </a:p>
      </dsp:txBody>
      <dsp:txXfrm>
        <a:off x="42036" y="2051085"/>
        <a:ext cx="5371121" cy="777048"/>
      </dsp:txXfrm>
    </dsp:sp>
    <dsp:sp modelId="{BEFE92F2-7FBF-4720-89D9-F407CD8F1C59}">
      <dsp:nvSpPr>
        <dsp:cNvPr id="0" name=""/>
        <dsp:cNvSpPr/>
      </dsp:nvSpPr>
      <dsp:spPr>
        <a:xfrm>
          <a:off x="0" y="3002649"/>
          <a:ext cx="5455193" cy="8611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Backup plan</a:t>
          </a:r>
        </a:p>
      </dsp:txBody>
      <dsp:txXfrm>
        <a:off x="42036" y="3044685"/>
        <a:ext cx="5371121" cy="777048"/>
      </dsp:txXfrm>
    </dsp:sp>
    <dsp:sp modelId="{2A9F7A49-2465-4CF9-BA70-BE1B0CDFD961}">
      <dsp:nvSpPr>
        <dsp:cNvPr id="0" name=""/>
        <dsp:cNvSpPr/>
      </dsp:nvSpPr>
      <dsp:spPr>
        <a:xfrm>
          <a:off x="0" y="3996249"/>
          <a:ext cx="5455193" cy="86112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Proposed Methodology</a:t>
          </a:r>
        </a:p>
      </dsp:txBody>
      <dsp:txXfrm>
        <a:off x="42036" y="4038285"/>
        <a:ext cx="5371121" cy="7770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0A3AD4-1F5A-4125-B0C8-9875E04AA268}"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F1A585-8F27-4C80-959C-A6E47EF0AC23}" type="slidenum">
              <a:rPr lang="en-US" smtClean="0"/>
              <a:t>‹#›</a:t>
            </a:fld>
            <a:endParaRPr lang="en-US"/>
          </a:p>
        </p:txBody>
      </p:sp>
    </p:spTree>
    <p:extLst>
      <p:ext uri="{BB962C8B-B14F-4D97-AF65-F5344CB8AC3E}">
        <p14:creationId xmlns:p14="http://schemas.microsoft.com/office/powerpoint/2010/main" val="29388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1</a:t>
            </a:fld>
            <a:endParaRPr lang="en-US"/>
          </a:p>
        </p:txBody>
      </p:sp>
    </p:spTree>
    <p:extLst>
      <p:ext uri="{BB962C8B-B14F-4D97-AF65-F5344CB8AC3E}">
        <p14:creationId xmlns:p14="http://schemas.microsoft.com/office/powerpoint/2010/main" val="3958114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2</a:t>
            </a:fld>
            <a:endParaRPr lang="en-US"/>
          </a:p>
        </p:txBody>
      </p:sp>
    </p:spTree>
    <p:extLst>
      <p:ext uri="{BB962C8B-B14F-4D97-AF65-F5344CB8AC3E}">
        <p14:creationId xmlns:p14="http://schemas.microsoft.com/office/powerpoint/2010/main" val="3610778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5</a:t>
            </a:fld>
            <a:endParaRPr lang="en-US"/>
          </a:p>
        </p:txBody>
      </p:sp>
    </p:spTree>
    <p:extLst>
      <p:ext uri="{BB962C8B-B14F-4D97-AF65-F5344CB8AC3E}">
        <p14:creationId xmlns:p14="http://schemas.microsoft.com/office/powerpoint/2010/main" val="1123100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6</a:t>
            </a:fld>
            <a:endParaRPr lang="en-US"/>
          </a:p>
        </p:txBody>
      </p:sp>
    </p:spTree>
    <p:extLst>
      <p:ext uri="{BB962C8B-B14F-4D97-AF65-F5344CB8AC3E}">
        <p14:creationId xmlns:p14="http://schemas.microsoft.com/office/powerpoint/2010/main" val="1181618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7</a:t>
            </a:fld>
            <a:endParaRPr lang="en-US"/>
          </a:p>
        </p:txBody>
      </p:sp>
    </p:spTree>
    <p:extLst>
      <p:ext uri="{BB962C8B-B14F-4D97-AF65-F5344CB8AC3E}">
        <p14:creationId xmlns:p14="http://schemas.microsoft.com/office/powerpoint/2010/main" val="38245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8</a:t>
            </a:fld>
            <a:endParaRPr lang="en-US"/>
          </a:p>
        </p:txBody>
      </p:sp>
    </p:spTree>
    <p:extLst>
      <p:ext uri="{BB962C8B-B14F-4D97-AF65-F5344CB8AC3E}">
        <p14:creationId xmlns:p14="http://schemas.microsoft.com/office/powerpoint/2010/main" val="1330983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9</a:t>
            </a:fld>
            <a:endParaRPr lang="en-US"/>
          </a:p>
        </p:txBody>
      </p:sp>
    </p:spTree>
    <p:extLst>
      <p:ext uri="{BB962C8B-B14F-4D97-AF65-F5344CB8AC3E}">
        <p14:creationId xmlns:p14="http://schemas.microsoft.com/office/powerpoint/2010/main" val="3420641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2AC9F87-F9DC-48B6-88B0-D9493EF04972}"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C9F87-F9DC-48B6-88B0-D9493EF04972}"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2AC9F87-F9DC-48B6-88B0-D9493EF04972}"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AC9F87-F9DC-48B6-88B0-D9493EF04972}"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AC9F87-F9DC-48B6-88B0-D9493EF04972}"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AC9F87-F9DC-48B6-88B0-D9493EF04972}" type="datetimeFigureOut">
              <a:rPr lang="en-US" smtClean="0"/>
              <a:t>10/12/2025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9F87-F9DC-48B6-88B0-D9493EF04972}" type="datetimeFigureOut">
              <a:rPr lang="en-US" smtClean="0"/>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2AC9F87-F9DC-48B6-88B0-D9493EF04972}"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2AC9F87-F9DC-48B6-88B0-D9493EF04972}"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C9F87-F9DC-48B6-88B0-D9493EF04972}"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C9F87-F9DC-48B6-88B0-D9493EF04972}"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00A5B7-E30A-416D-B989-B71EEF8A585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9F87-F9DC-48B6-88B0-D9493EF04972}" type="datetimeFigureOut">
              <a:rPr lang="en-US" smtClean="0"/>
              <a:t>10/12/2025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00A5B7-E30A-416D-B989-B71EEF8A585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19449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3" name="Subtitle 2"/>
          <p:cNvSpPr>
            <a:spLocks noGrp="1"/>
          </p:cNvSpPr>
          <p:nvPr>
            <p:ph type="subTitle" idx="1"/>
          </p:nvPr>
        </p:nvSpPr>
        <p:spPr>
          <a:xfrm>
            <a:off x="0" y="0"/>
            <a:ext cx="12192000" cy="6858000"/>
          </a:xfrm>
        </p:spPr>
        <p:txBody>
          <a:bodyPr>
            <a:normAutofit lnSpcReduction="10000"/>
          </a:bodyPr>
          <a:lstStyle/>
          <a:p>
            <a:pPr>
              <a:lnSpc>
                <a:spcPct val="120000"/>
              </a:lnSpc>
              <a:spcBef>
                <a:spcPts val="0"/>
              </a:spcBef>
            </a:pPr>
            <a:r>
              <a:rPr lang="en-IN" altLang="en-US" b="1" dirty="0">
                <a:solidFill>
                  <a:schemeClr val="bg1"/>
                </a:solidFill>
                <a:latin typeface="Times New Roman" panose="02020603050405020304" pitchFamily="18" charset="0"/>
                <a:cs typeface="Times New Roman" panose="02020603050405020304" pitchFamily="18" charset="0"/>
              </a:rPr>
              <a:t>DKSS</a:t>
            </a:r>
          </a:p>
          <a:p>
            <a:pPr>
              <a:lnSpc>
                <a:spcPct val="120000"/>
              </a:lnSpc>
              <a:spcBef>
                <a:spcPts val="0"/>
              </a:spcBef>
            </a:pPr>
            <a:r>
              <a:rPr lang="en-US" sz="2800" b="1" dirty="0">
                <a:solidFill>
                  <a:schemeClr val="bg1"/>
                </a:solidFill>
                <a:latin typeface="Times New Roman" panose="02020603050405020304" pitchFamily="18" charset="0"/>
                <a:cs typeface="Times New Roman" panose="02020603050405020304" pitchFamily="18" charset="0"/>
              </a:rPr>
              <a:t>Dattakala Group of Institutions Faculty of Engineering</a:t>
            </a:r>
          </a:p>
          <a:p>
            <a:pPr>
              <a:lnSpc>
                <a:spcPct val="120000"/>
              </a:lnSpc>
              <a:spcBef>
                <a:spcPts val="0"/>
              </a:spcBef>
            </a:pPr>
            <a:r>
              <a:rPr lang="en-US" b="1" u="sng" dirty="0">
                <a:solidFill>
                  <a:srgbClr val="F58B3B"/>
                </a:solidFill>
                <a:latin typeface="Times New Roman" panose="02020603050405020304" pitchFamily="18" charset="0"/>
                <a:cs typeface="Times New Roman" panose="02020603050405020304" pitchFamily="18" charset="0"/>
              </a:rPr>
              <a:t>Department of Computer Engineering</a:t>
            </a:r>
          </a:p>
          <a:p>
            <a:pPr>
              <a:lnSpc>
                <a:spcPct val="120000"/>
              </a:lnSpc>
              <a:spcBef>
                <a:spcPts val="0"/>
              </a:spcBef>
            </a:pPr>
            <a:r>
              <a:rPr lang="en-US" b="1" dirty="0">
                <a:solidFill>
                  <a:schemeClr val="bg1"/>
                </a:solidFill>
                <a:latin typeface="Times New Roman" panose="02020603050405020304" pitchFamily="18" charset="0"/>
                <a:cs typeface="Times New Roman" panose="02020603050405020304" pitchFamily="18" charset="0"/>
              </a:rPr>
              <a:t>Savitribai Phule Pune University</a:t>
            </a:r>
          </a:p>
          <a:p>
            <a:pPr>
              <a:lnSpc>
                <a:spcPct val="120000"/>
              </a:lnSpc>
              <a:spcBef>
                <a:spcPts val="0"/>
              </a:spcBef>
            </a:pPr>
            <a:endParaRPr lang="en-US" b="1" dirty="0">
              <a:latin typeface="Times New Roman" panose="02020603050405020304" pitchFamily="18" charset="0"/>
              <a:cs typeface="Times New Roman" panose="02020603050405020304" pitchFamily="18" charset="0"/>
            </a:endParaRPr>
          </a:p>
          <a:p>
            <a:pPr>
              <a:lnSpc>
                <a:spcPct val="120000"/>
              </a:lnSpc>
              <a:spcBef>
                <a:spcPts val="0"/>
              </a:spcBef>
            </a:pPr>
            <a:r>
              <a:rPr lang="en-US" b="1" dirty="0">
                <a:latin typeface="Times New Roman" panose="02020603050405020304" pitchFamily="18" charset="0"/>
                <a:cs typeface="Times New Roman" panose="02020603050405020304" pitchFamily="18" charset="0"/>
              </a:rPr>
              <a:t>Academic Year: 2025-2026</a:t>
            </a:r>
          </a:p>
          <a:p>
            <a:pPr>
              <a:lnSpc>
                <a:spcPct val="120000"/>
              </a:lnSpc>
              <a:spcBef>
                <a:spcPts val="0"/>
              </a:spcBef>
            </a:pPr>
            <a:r>
              <a:rPr lang="en-US" b="1" dirty="0">
                <a:latin typeface="Times New Roman" panose="02020603050405020304" pitchFamily="18" charset="0"/>
                <a:cs typeface="Times New Roman" panose="02020603050405020304" pitchFamily="18" charset="0"/>
              </a:rPr>
              <a:t>Project Review</a:t>
            </a:r>
          </a:p>
          <a:p>
            <a:pPr>
              <a:lnSpc>
                <a:spcPct val="120000"/>
              </a:lnSpc>
              <a:spcBef>
                <a:spcPts val="0"/>
              </a:spcBef>
            </a:pPr>
            <a:r>
              <a:rPr lang="en-US" b="1" dirty="0">
                <a:latin typeface="Times New Roman" panose="02020603050405020304" pitchFamily="18" charset="0"/>
                <a:cs typeface="Times New Roman" panose="02020603050405020304" pitchFamily="18" charset="0"/>
              </a:rPr>
              <a:t>On</a:t>
            </a:r>
          </a:p>
          <a:p>
            <a:pPr>
              <a:lnSpc>
                <a:spcPct val="120000"/>
              </a:lnSpc>
              <a:spcBef>
                <a:spcPts val="0"/>
              </a:spcBef>
            </a:pPr>
            <a:r>
              <a:rPr lang="en-US" sz="2000" b="1" dirty="0">
                <a:solidFill>
                  <a:srgbClr val="FF0000"/>
                </a:solidFill>
                <a:latin typeface="Times New Roman" panose="02020603050405020304" pitchFamily="18" charset="0"/>
                <a:cs typeface="Times New Roman" panose="02020603050405020304" pitchFamily="18" charset="0"/>
              </a:rPr>
              <a:t>“AI Powered Resume Builder/Analyzer”</a:t>
            </a:r>
          </a:p>
          <a:p>
            <a:pPr>
              <a:lnSpc>
                <a:spcPct val="120000"/>
              </a:lnSpc>
              <a:spcBef>
                <a:spcPts val="0"/>
              </a:spcBef>
            </a:pPr>
            <a:endParaRPr lang="en-US" sz="2000" b="1" dirty="0">
              <a:solidFill>
                <a:srgbClr val="FF0000"/>
              </a:solidFill>
              <a:latin typeface="Times New Roman" panose="02020603050405020304" pitchFamily="18" charset="0"/>
              <a:cs typeface="Times New Roman" panose="02020603050405020304" pitchFamily="18" charset="0"/>
            </a:endParaRPr>
          </a:p>
          <a:p>
            <a:pPr marL="567055" algn="just">
              <a:lnSpc>
                <a:spcPct val="120000"/>
              </a:lnSpc>
              <a:spcBef>
                <a:spcPts val="0"/>
              </a:spcBef>
            </a:pPr>
            <a:r>
              <a:rPr lang="en-US" sz="2000" b="1" dirty="0">
                <a:latin typeface="Times New Roman" panose="02020603050405020304" pitchFamily="18" charset="0"/>
                <a:cs typeface="Times New Roman" panose="02020603050405020304" pitchFamily="18" charset="0"/>
              </a:rPr>
              <a:t>            Presented By				                                           Guided By:	</a:t>
            </a:r>
          </a:p>
          <a:p>
            <a:pPr marL="1367155" lvl="1" indent="-342900" algn="just">
              <a:lnSpc>
                <a:spcPct val="120000"/>
              </a:lnSpc>
              <a:spcBef>
                <a:spcPts val="0"/>
              </a:spcBef>
              <a:buAutoNum type="arabicPeriod"/>
            </a:pPr>
            <a:r>
              <a:rPr lang="en-US" sz="2000" b="1" dirty="0" err="1">
                <a:latin typeface="Times New Roman" panose="02020603050405020304" pitchFamily="18" charset="0"/>
                <a:cs typeface="Times New Roman" panose="02020603050405020304" pitchFamily="18" charset="0"/>
              </a:rPr>
              <a:t>Akash</a:t>
            </a:r>
            <a:r>
              <a:rPr lang="en-US" sz="2000" b="1" dirty="0">
                <a:latin typeface="Times New Roman" panose="02020603050405020304" pitchFamily="18" charset="0"/>
                <a:cs typeface="Times New Roman" panose="02020603050405020304" pitchFamily="18" charset="0"/>
              </a:rPr>
              <a:t> Ashok </a:t>
            </a:r>
            <a:r>
              <a:rPr lang="en-US" sz="2000" b="1" dirty="0" err="1">
                <a:latin typeface="Times New Roman" panose="02020603050405020304" pitchFamily="18" charset="0"/>
                <a:cs typeface="Times New Roman" panose="02020603050405020304" pitchFamily="18" charset="0"/>
              </a:rPr>
              <a:t>Phadtare</a:t>
            </a:r>
            <a:r>
              <a:rPr lang="en-US" sz="2000" b="1" dirty="0">
                <a:latin typeface="Times New Roman" panose="02020603050405020304" pitchFamily="18" charset="0"/>
                <a:cs typeface="Times New Roman" panose="02020603050405020304" pitchFamily="18" charset="0"/>
              </a:rPr>
              <a:t>(60)                                                                         Prof. Dr. </a:t>
            </a:r>
            <a:r>
              <a:rPr lang="en-US" sz="2000" b="1" dirty="0" err="1">
                <a:latin typeface="Times New Roman" panose="02020603050405020304" pitchFamily="18" charset="0"/>
                <a:cs typeface="Times New Roman" panose="02020603050405020304" pitchFamily="18" charset="0"/>
              </a:rPr>
              <a:t>Bere</a:t>
            </a:r>
            <a:r>
              <a:rPr lang="en-US" sz="2000" b="1" dirty="0">
                <a:latin typeface="Times New Roman" panose="02020603050405020304" pitchFamily="18" charset="0"/>
                <a:cs typeface="Times New Roman" panose="02020603050405020304" pitchFamily="18" charset="0"/>
              </a:rPr>
              <a:t> S.S</a:t>
            </a:r>
            <a:endParaRPr lang="en-US" b="1" dirty="0">
              <a:latin typeface="Times New Roman" panose="02020603050405020304" pitchFamily="18" charset="0"/>
              <a:cs typeface="Times New Roman" panose="02020603050405020304" pitchFamily="18" charset="0"/>
            </a:endParaRPr>
          </a:p>
          <a:p>
            <a:pPr marL="1367155" lvl="1" indent="-342900" algn="l">
              <a:lnSpc>
                <a:spcPct val="120000"/>
              </a:lnSpc>
              <a:spcBef>
                <a:spcPts val="0"/>
              </a:spcBef>
              <a:buAutoNum type="arabicPeriod"/>
            </a:pPr>
            <a:r>
              <a:rPr lang="en-US" sz="2000" b="1" dirty="0" err="1">
                <a:latin typeface="Times New Roman" panose="02020603050405020304" pitchFamily="18" charset="0"/>
                <a:cs typeface="Times New Roman" panose="02020603050405020304" pitchFamily="18" charset="0"/>
              </a:rPr>
              <a:t>Abhijit</a:t>
            </a:r>
            <a:r>
              <a:rPr lang="en-US" sz="2000" b="1" dirty="0">
                <a:latin typeface="Times New Roman" panose="02020603050405020304" pitchFamily="18" charset="0"/>
                <a:cs typeface="Times New Roman" panose="02020603050405020304" pitchFamily="18" charset="0"/>
              </a:rPr>
              <a:t> Sanjay </a:t>
            </a:r>
            <a:r>
              <a:rPr lang="en-US" sz="2000" b="1" dirty="0" err="1">
                <a:latin typeface="Times New Roman" panose="02020603050405020304" pitchFamily="18" charset="0"/>
                <a:cs typeface="Times New Roman" panose="02020603050405020304" pitchFamily="18" charset="0"/>
              </a:rPr>
              <a:t>Thorat</a:t>
            </a:r>
            <a:r>
              <a:rPr lang="en-US" sz="2000" b="1" dirty="0">
                <a:latin typeface="Times New Roman" panose="02020603050405020304" pitchFamily="18" charset="0"/>
                <a:cs typeface="Times New Roman" panose="02020603050405020304" pitchFamily="18" charset="0"/>
              </a:rPr>
              <a:t>(50)</a:t>
            </a:r>
          </a:p>
          <a:p>
            <a:pPr marL="1367155" lvl="1" indent="-342900" algn="just">
              <a:lnSpc>
                <a:spcPct val="120000"/>
              </a:lnSpc>
              <a:spcBef>
                <a:spcPts val="0"/>
              </a:spcBef>
              <a:buAutoNum type="arabicPeriod"/>
            </a:pPr>
            <a:r>
              <a:rPr lang="en-US" b="1" dirty="0">
                <a:latin typeface="Times New Roman" panose="02020603050405020304" pitchFamily="18" charset="0"/>
                <a:cs typeface="Times New Roman" panose="02020603050405020304" pitchFamily="18" charset="0"/>
              </a:rPr>
              <a:t>Ganesh </a:t>
            </a:r>
            <a:r>
              <a:rPr lang="en-US" b="1" dirty="0" err="1">
                <a:latin typeface="Times New Roman" panose="02020603050405020304" pitchFamily="18" charset="0"/>
                <a:cs typeface="Times New Roman" panose="02020603050405020304" pitchFamily="18" charset="0"/>
              </a:rPr>
              <a:t>Motiram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Jadhav</a:t>
            </a:r>
            <a:r>
              <a:rPr lang="en-US" b="1" dirty="0">
                <a:latin typeface="Times New Roman" panose="02020603050405020304" pitchFamily="18" charset="0"/>
                <a:cs typeface="Times New Roman" panose="02020603050405020304" pitchFamily="18" charset="0"/>
              </a:rPr>
              <a:t>(22)                                                                        Co-Guided By:</a:t>
            </a:r>
          </a:p>
          <a:p>
            <a:pPr marL="1367155" lvl="1" indent="-342900" algn="just">
              <a:lnSpc>
                <a:spcPct val="120000"/>
              </a:lnSpc>
              <a:spcBef>
                <a:spcPts val="0"/>
              </a:spcBef>
              <a:buAutoNum type="arabicPeriod"/>
            </a:pPr>
            <a:r>
              <a:rPr lang="en-US" b="1" dirty="0" err="1">
                <a:latin typeface="Times New Roman" panose="02020603050405020304" pitchFamily="18" charset="0"/>
                <a:cs typeface="Times New Roman" panose="02020603050405020304" pitchFamily="18" charset="0"/>
              </a:rPr>
              <a:t>Shubham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Dattatray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Jadhav</a:t>
            </a:r>
            <a:r>
              <a:rPr lang="en-US" b="1" dirty="0">
                <a:latin typeface="Times New Roman" panose="02020603050405020304" pitchFamily="18" charset="0"/>
                <a:cs typeface="Times New Roman" panose="02020603050405020304" pitchFamily="18" charset="0"/>
              </a:rPr>
              <a:t>(62)                                                               Prof. Miss. </a:t>
            </a:r>
            <a:r>
              <a:rPr lang="en-US" b="1" dirty="0" err="1">
                <a:latin typeface="Times New Roman" panose="02020603050405020304" pitchFamily="18" charset="0"/>
                <a:cs typeface="Times New Roman" panose="02020603050405020304" pitchFamily="18" charset="0"/>
              </a:rPr>
              <a:t>Jagtap</a:t>
            </a:r>
            <a:r>
              <a:rPr lang="en-US" b="1" dirty="0">
                <a:latin typeface="Times New Roman" panose="02020603050405020304" pitchFamily="18" charset="0"/>
                <a:cs typeface="Times New Roman" panose="02020603050405020304" pitchFamily="18" charset="0"/>
              </a:rPr>
              <a:t> P.S</a:t>
            </a:r>
          </a:p>
          <a:p>
            <a:pPr marL="1367155" lvl="1" indent="-342900" algn="just">
              <a:lnSpc>
                <a:spcPct val="120000"/>
              </a:lnSpc>
              <a:spcBef>
                <a:spcPts val="0"/>
              </a:spcBef>
              <a:buAutoNum type="arabicPeriod"/>
            </a:pPr>
            <a:r>
              <a:rPr lang="en-US" b="1" dirty="0" err="1">
                <a:latin typeface="Times New Roman" panose="02020603050405020304" pitchFamily="18" charset="0"/>
                <a:cs typeface="Times New Roman" panose="02020603050405020304" pitchFamily="18" charset="0"/>
              </a:rPr>
              <a:t>Shrikant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Nagnath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Kadam</a:t>
            </a:r>
            <a:r>
              <a:rPr lang="en-US" b="1" dirty="0">
                <a:latin typeface="Times New Roman" panose="02020603050405020304" pitchFamily="18" charset="0"/>
                <a:cs typeface="Times New Roman" panose="02020603050405020304" pitchFamily="18" charset="0"/>
              </a:rPr>
              <a:t>(58)</a:t>
            </a:r>
            <a:r>
              <a:rPr lang="en-US" sz="20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a:t>
            </a:r>
          </a:p>
          <a:p>
            <a:pPr marL="1024255" lvl="1" algn="just">
              <a:lnSpc>
                <a:spcPct val="120000"/>
              </a:lnSpc>
              <a:spcBef>
                <a:spcPts val="0"/>
              </a:spcBef>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Project Coordinator</a:t>
            </a:r>
          </a:p>
          <a:p>
            <a:pPr marL="1024255" lvl="1" algn="just">
              <a:lnSpc>
                <a:spcPct val="120000"/>
              </a:lnSpc>
              <a:spcBef>
                <a:spcPts val="0"/>
              </a:spcBef>
            </a:pPr>
            <a:r>
              <a:rPr lang="en-US" sz="1800" b="1" dirty="0">
                <a:latin typeface="Times New Roman" panose="02020603050405020304" pitchFamily="18" charset="0"/>
                <a:cs typeface="Times New Roman" panose="02020603050405020304" pitchFamily="18" charset="0"/>
              </a:rPr>
              <a:t>                                                                        ( Prof. Mrs. </a:t>
            </a:r>
            <a:r>
              <a:rPr lang="en-US" sz="1800" b="1" dirty="0" err="1">
                <a:latin typeface="Times New Roman" panose="02020603050405020304" pitchFamily="18" charset="0"/>
                <a:cs typeface="Times New Roman" panose="02020603050405020304" pitchFamily="18" charset="0"/>
              </a:rPr>
              <a:t>Dalavi</a:t>
            </a:r>
            <a:r>
              <a:rPr lang="en-US" sz="1800" b="1" dirty="0">
                <a:latin typeface="Times New Roman" panose="02020603050405020304" pitchFamily="18" charset="0"/>
                <a:cs typeface="Times New Roman" panose="02020603050405020304" pitchFamily="18" charset="0"/>
              </a:rPr>
              <a:t> M.T.)                                                 </a:t>
            </a:r>
          </a:p>
        </p:txBody>
      </p:sp>
      <p:cxnSp>
        <p:nvCxnSpPr>
          <p:cNvPr id="6" name="Straight Connector 5"/>
          <p:cNvCxnSpPr/>
          <p:nvPr/>
        </p:nvCxnSpPr>
        <p:spPr>
          <a:xfrm>
            <a:off x="276904" y="2002970"/>
            <a:ext cx="11788014" cy="0"/>
          </a:xfrm>
          <a:prstGeom prst="line">
            <a:avLst/>
          </a:prstGeom>
          <a:ln w="38100">
            <a:solidFill>
              <a:srgbClr val="F58B3B"/>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822" y="303530"/>
            <a:ext cx="1581701" cy="134044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8596" y="303530"/>
            <a:ext cx="1656322" cy="13404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2192000" cy="6858000"/>
          </a:xfrm>
        </p:spPr>
        <p:txBody>
          <a:bodyPr>
            <a:normAutofit/>
          </a:bodyPr>
          <a:lstStyle/>
          <a:p>
            <a:pPr indent="465455"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455"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graphicFrame>
        <p:nvGraphicFramePr>
          <p:cNvPr id="2" name="Diagram 1"/>
          <p:cNvGraphicFramePr/>
          <p:nvPr>
            <p:extLst>
              <p:ext uri="{D42A27DB-BD31-4B8C-83A1-F6EECF244321}">
                <p14:modId xmlns:p14="http://schemas.microsoft.com/office/powerpoint/2010/main" val="2737104799"/>
              </p:ext>
            </p:extLst>
          </p:nvPr>
        </p:nvGraphicFramePr>
        <p:xfrm>
          <a:off x="899886" y="1140580"/>
          <a:ext cx="5733143"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ounded Rectangle 3"/>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Contents</a:t>
            </a:r>
          </a:p>
        </p:txBody>
      </p:sp>
      <p:sp>
        <p:nvSpPr>
          <p:cNvPr id="8" name="Oval 7"/>
          <p:cNvSpPr/>
          <p:nvPr/>
        </p:nvSpPr>
        <p:spPr>
          <a:xfrm>
            <a:off x="174170" y="1535639"/>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9" name="Oval 8"/>
          <p:cNvSpPr/>
          <p:nvPr/>
        </p:nvSpPr>
        <p:spPr>
          <a:xfrm>
            <a:off x="174170" y="2502134"/>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2</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val 9"/>
          <p:cNvSpPr/>
          <p:nvPr/>
        </p:nvSpPr>
        <p:spPr>
          <a:xfrm>
            <a:off x="174170" y="3491255"/>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3</a:t>
            </a:r>
          </a:p>
        </p:txBody>
      </p:sp>
      <p:sp>
        <p:nvSpPr>
          <p:cNvPr id="11" name="Oval 10"/>
          <p:cNvSpPr/>
          <p:nvPr/>
        </p:nvSpPr>
        <p:spPr>
          <a:xfrm>
            <a:off x="174170" y="4466150"/>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4</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2" name="Oval 11"/>
          <p:cNvSpPr/>
          <p:nvPr/>
        </p:nvSpPr>
        <p:spPr>
          <a:xfrm>
            <a:off x="174171" y="5482746"/>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Diagram 18"/>
          <p:cNvGraphicFramePr/>
          <p:nvPr/>
        </p:nvGraphicFramePr>
        <p:xfrm>
          <a:off x="1049380" y="1521581"/>
          <a:ext cx="5455193" cy="4879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Rounded Rectangle 19"/>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Contents</a:t>
            </a:r>
          </a:p>
        </p:txBody>
      </p:sp>
      <p:sp>
        <p:nvSpPr>
          <p:cNvPr id="21" name="Oval 20"/>
          <p:cNvSpPr/>
          <p:nvPr/>
        </p:nvSpPr>
        <p:spPr>
          <a:xfrm>
            <a:off x="317856" y="1352566"/>
            <a:ext cx="731524" cy="739115"/>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6</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2" name="Oval 21"/>
          <p:cNvSpPr/>
          <p:nvPr/>
        </p:nvSpPr>
        <p:spPr>
          <a:xfrm>
            <a:off x="317856" y="2538666"/>
            <a:ext cx="725716" cy="744195"/>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7</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3" name="Oval 22"/>
          <p:cNvSpPr/>
          <p:nvPr/>
        </p:nvSpPr>
        <p:spPr>
          <a:xfrm>
            <a:off x="329472" y="3510664"/>
            <a:ext cx="719908" cy="744194"/>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8</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4" name="Oval 23"/>
          <p:cNvSpPr/>
          <p:nvPr/>
        </p:nvSpPr>
        <p:spPr>
          <a:xfrm>
            <a:off x="329472" y="4474042"/>
            <a:ext cx="719908" cy="744195"/>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9</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 name="Oval 3"/>
          <p:cNvSpPr/>
          <p:nvPr/>
        </p:nvSpPr>
        <p:spPr>
          <a:xfrm>
            <a:off x="329472" y="5437421"/>
            <a:ext cx="719908" cy="744195"/>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0" y="0"/>
            <a:ext cx="12192000" cy="6858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5455"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455"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graphicFrame>
        <p:nvGraphicFramePr>
          <p:cNvPr id="5" name="Diagram 4"/>
          <p:cNvGraphicFramePr/>
          <p:nvPr/>
        </p:nvGraphicFramePr>
        <p:xfrm>
          <a:off x="899886" y="1140580"/>
          <a:ext cx="573314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ounded Rectangle 3"/>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Contents</a:t>
            </a:r>
          </a:p>
        </p:txBody>
      </p:sp>
      <p:sp>
        <p:nvSpPr>
          <p:cNvPr id="7" name="Oval 6"/>
          <p:cNvSpPr/>
          <p:nvPr/>
        </p:nvSpPr>
        <p:spPr>
          <a:xfrm>
            <a:off x="174170" y="1170796"/>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11</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8" name="Oval 7"/>
          <p:cNvSpPr/>
          <p:nvPr/>
        </p:nvSpPr>
        <p:spPr>
          <a:xfrm>
            <a:off x="174170" y="2444970"/>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12</a:t>
            </a:r>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9" name="Oval 8"/>
          <p:cNvSpPr/>
          <p:nvPr/>
        </p:nvSpPr>
        <p:spPr>
          <a:xfrm>
            <a:off x="174170" y="3491255"/>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13</a:t>
            </a:r>
          </a:p>
        </p:txBody>
      </p:sp>
      <p:sp>
        <p:nvSpPr>
          <p:cNvPr id="10" name="Oval 9"/>
          <p:cNvSpPr/>
          <p:nvPr/>
        </p:nvSpPr>
        <p:spPr>
          <a:xfrm>
            <a:off x="174170" y="4466150"/>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14</a:t>
            </a:r>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11" name="Oval 10"/>
          <p:cNvSpPr/>
          <p:nvPr/>
        </p:nvSpPr>
        <p:spPr>
          <a:xfrm>
            <a:off x="174171" y="5482746"/>
            <a:ext cx="725715" cy="7173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15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2192000" cy="6858000"/>
          </a:xfrm>
        </p:spPr>
        <p:txBody>
          <a:bodyPr>
            <a:normAutofit/>
          </a:bodyPr>
          <a:lstStyle/>
          <a:p>
            <a:pPr indent="465455"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455"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Introduction</a:t>
            </a:r>
          </a:p>
        </p:txBody>
      </p:sp>
      <p:sp>
        <p:nvSpPr>
          <p:cNvPr id="7" name="Rectangle 2">
            <a:extLst>
              <a:ext uri="{FF2B5EF4-FFF2-40B4-BE49-F238E27FC236}">
                <a16:creationId xmlns:a16="http://schemas.microsoft.com/office/drawing/2014/main" id="{76130316-A3C9-D0B8-4D0B-53A5C279EFB0}"/>
              </a:ext>
            </a:extLst>
          </p:cNvPr>
          <p:cNvSpPr>
            <a:spLocks noChangeArrowheads="1"/>
          </p:cNvSpPr>
          <p:nvPr/>
        </p:nvSpPr>
        <p:spPr bwMode="auto">
          <a:xfrm rot="10800000" flipV="1">
            <a:off x="1297858" y="1107965"/>
            <a:ext cx="886869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Resumes are the first step in the recruitment process.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job seekers struggle to create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ATS-friendly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professional resumes.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resumes often fail to match specific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descriptions (JD)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Recruiters spend limited time scanning resumes, leading to missed opportunities.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and NLP can be used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score, and improve resumes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automatically.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Builder module helps users design resumes with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predefined templates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provides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suggestions, keyword optimization, and formatting checks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Rationale </a:t>
            </a:r>
            <a:endParaRPr lang="en-US" sz="4000" dirty="0"/>
          </a:p>
        </p:txBody>
      </p:sp>
      <p:sp>
        <p:nvSpPr>
          <p:cNvPr id="9" name="Rectangle 2">
            <a:extLst>
              <a:ext uri="{FF2B5EF4-FFF2-40B4-BE49-F238E27FC236}">
                <a16:creationId xmlns:a16="http://schemas.microsoft.com/office/drawing/2014/main" id="{FA58883C-9869-4CD6-2696-89DADD414103}"/>
              </a:ext>
            </a:extLst>
          </p:cNvPr>
          <p:cNvSpPr>
            <a:spLocks noChangeArrowheads="1"/>
          </p:cNvSpPr>
          <p:nvPr/>
        </p:nvSpPr>
        <p:spPr bwMode="auto">
          <a:xfrm>
            <a:off x="688259" y="841827"/>
            <a:ext cx="890802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competition in the job market requires smarter tools for job seekers.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resumes are rejected due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 incompatibility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poor keyword alignment.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resume screening by recruiters is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and error-prone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professional guidance results in resumes that fail to highlight relevant skills.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systems can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 the gap between job seekers and recruiters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ensures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fair, efficient, and intelligent resume evaluation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job seekers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tailoring resumes to specific job descriptions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overall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employability and shortlisting chances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2192000" cy="6858000"/>
          </a:xfrm>
        </p:spPr>
        <p:txBody>
          <a:bodyPr>
            <a:normAutofit/>
          </a:bodyPr>
          <a:lstStyle/>
          <a:p>
            <a:pPr indent="465455"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455"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0"/>
            <a:ext cx="12192000" cy="76925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Literature Review</a:t>
            </a:r>
            <a:endParaRPr lang="en-US" sz="4000" dirty="0"/>
          </a:p>
        </p:txBody>
      </p:sp>
      <p:graphicFrame>
        <p:nvGraphicFramePr>
          <p:cNvPr id="6" name="Table 5">
            <a:extLst>
              <a:ext uri="{FF2B5EF4-FFF2-40B4-BE49-F238E27FC236}">
                <a16:creationId xmlns:a16="http://schemas.microsoft.com/office/drawing/2014/main" id="{D2F109A6-50A3-6196-8D03-8E488C9ED477}"/>
              </a:ext>
            </a:extLst>
          </p:cNvPr>
          <p:cNvGraphicFramePr>
            <a:graphicFrameLocks noGrp="1"/>
          </p:cNvGraphicFramePr>
          <p:nvPr>
            <p:extLst>
              <p:ext uri="{D42A27DB-BD31-4B8C-83A1-F6EECF244321}">
                <p14:modId xmlns:p14="http://schemas.microsoft.com/office/powerpoint/2010/main" val="1154791690"/>
              </p:ext>
            </p:extLst>
          </p:nvPr>
        </p:nvGraphicFramePr>
        <p:xfrm>
          <a:off x="0" y="841828"/>
          <a:ext cx="12192000" cy="6016173"/>
        </p:xfrm>
        <a:graphic>
          <a:graphicData uri="http://schemas.openxmlformats.org/drawingml/2006/table">
            <a:tbl>
              <a:tblPr>
                <a:tableStyleId>{3C2FFA5D-87B4-456A-9821-1D502468CF0F}</a:tableStyleId>
              </a:tblPr>
              <a:tblGrid>
                <a:gridCol w="2438400">
                  <a:extLst>
                    <a:ext uri="{9D8B030D-6E8A-4147-A177-3AD203B41FA5}">
                      <a16:colId xmlns:a16="http://schemas.microsoft.com/office/drawing/2014/main" val="4207041996"/>
                    </a:ext>
                  </a:extLst>
                </a:gridCol>
                <a:gridCol w="2438400">
                  <a:extLst>
                    <a:ext uri="{9D8B030D-6E8A-4147-A177-3AD203B41FA5}">
                      <a16:colId xmlns:a16="http://schemas.microsoft.com/office/drawing/2014/main" val="1245116745"/>
                    </a:ext>
                  </a:extLst>
                </a:gridCol>
                <a:gridCol w="2438400">
                  <a:extLst>
                    <a:ext uri="{9D8B030D-6E8A-4147-A177-3AD203B41FA5}">
                      <a16:colId xmlns:a16="http://schemas.microsoft.com/office/drawing/2014/main" val="147833262"/>
                    </a:ext>
                  </a:extLst>
                </a:gridCol>
                <a:gridCol w="2438400">
                  <a:extLst>
                    <a:ext uri="{9D8B030D-6E8A-4147-A177-3AD203B41FA5}">
                      <a16:colId xmlns:a16="http://schemas.microsoft.com/office/drawing/2014/main" val="829150103"/>
                    </a:ext>
                  </a:extLst>
                </a:gridCol>
                <a:gridCol w="2438400">
                  <a:extLst>
                    <a:ext uri="{9D8B030D-6E8A-4147-A177-3AD203B41FA5}">
                      <a16:colId xmlns:a16="http://schemas.microsoft.com/office/drawing/2014/main" val="116693357"/>
                    </a:ext>
                  </a:extLst>
                </a:gridCol>
              </a:tblGrid>
              <a:tr h="456644">
                <a:tc>
                  <a:txBody>
                    <a:bodyPr/>
                    <a:lstStyle/>
                    <a:p>
                      <a:pPr>
                        <a:buNone/>
                      </a:pPr>
                      <a:r>
                        <a:rPr lang="en-IN" sz="1800" b="1" dirty="0" err="1">
                          <a:latin typeface="Times New Roman" panose="02020603050405020304" pitchFamily="18" charset="0"/>
                          <a:cs typeface="Times New Roman" panose="02020603050405020304" pitchFamily="18" charset="0"/>
                        </a:rPr>
                        <a:t>Sr.No</a:t>
                      </a:r>
                      <a:r>
                        <a:rPr lang="en-IN" sz="1800" b="1"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63063" marR="63063" marT="31531" marB="31531" anchor="ctr"/>
                </a:tc>
                <a:tc>
                  <a:txBody>
                    <a:bodyPr/>
                    <a:lstStyle/>
                    <a:p>
                      <a:pPr>
                        <a:buNone/>
                      </a:pPr>
                      <a:r>
                        <a:rPr lang="en-IN" sz="1800" b="1">
                          <a:latin typeface="Times New Roman" panose="02020603050405020304" pitchFamily="18" charset="0"/>
                          <a:cs typeface="Times New Roman" panose="02020603050405020304" pitchFamily="18" charset="0"/>
                        </a:rPr>
                        <a:t>Author(s) &amp; Year</a:t>
                      </a:r>
                      <a:endParaRPr lang="en-IN" sz="1800">
                        <a:latin typeface="Times New Roman" panose="02020603050405020304" pitchFamily="18" charset="0"/>
                        <a:cs typeface="Times New Roman" panose="02020603050405020304" pitchFamily="18" charset="0"/>
                      </a:endParaRPr>
                    </a:p>
                  </a:txBody>
                  <a:tcPr marL="63063" marR="63063" marT="31531" marB="31531" anchor="ctr"/>
                </a:tc>
                <a:tc>
                  <a:txBody>
                    <a:bodyPr/>
                    <a:lstStyle/>
                    <a:p>
                      <a:pPr>
                        <a:buNone/>
                      </a:pPr>
                      <a:r>
                        <a:rPr lang="en-IN" sz="1800" b="1">
                          <a:latin typeface="Times New Roman" panose="02020603050405020304" pitchFamily="18" charset="0"/>
                          <a:cs typeface="Times New Roman" panose="02020603050405020304" pitchFamily="18" charset="0"/>
                        </a:rPr>
                        <a:t>Title / Paper</a:t>
                      </a:r>
                      <a:endParaRPr lang="en-IN" sz="1800">
                        <a:latin typeface="Times New Roman" panose="02020603050405020304" pitchFamily="18" charset="0"/>
                        <a:cs typeface="Times New Roman" panose="02020603050405020304" pitchFamily="18" charset="0"/>
                      </a:endParaRPr>
                    </a:p>
                  </a:txBody>
                  <a:tcPr marL="63063" marR="63063" marT="31531" marB="31531" anchor="ctr"/>
                </a:tc>
                <a:tc>
                  <a:txBody>
                    <a:bodyPr/>
                    <a:lstStyle/>
                    <a:p>
                      <a:pPr>
                        <a:buNone/>
                      </a:pPr>
                      <a:r>
                        <a:rPr lang="en-IN" sz="1800" b="1">
                          <a:latin typeface="Times New Roman" panose="02020603050405020304" pitchFamily="18" charset="0"/>
                          <a:cs typeface="Times New Roman" panose="02020603050405020304" pitchFamily="18" charset="0"/>
                        </a:rPr>
                        <a:t>Key Contribution</a:t>
                      </a:r>
                      <a:endParaRPr lang="en-IN" sz="1800">
                        <a:latin typeface="Times New Roman" panose="02020603050405020304" pitchFamily="18" charset="0"/>
                        <a:cs typeface="Times New Roman" panose="02020603050405020304" pitchFamily="18" charset="0"/>
                      </a:endParaRPr>
                    </a:p>
                  </a:txBody>
                  <a:tcPr marL="63063" marR="63063" marT="31531" marB="31531" anchor="ctr"/>
                </a:tc>
                <a:tc>
                  <a:txBody>
                    <a:bodyPr/>
                    <a:lstStyle/>
                    <a:p>
                      <a:pPr>
                        <a:buNone/>
                      </a:pPr>
                      <a:r>
                        <a:rPr lang="en-IN" sz="1800" b="1" dirty="0">
                          <a:latin typeface="Times New Roman" panose="02020603050405020304" pitchFamily="18" charset="0"/>
                          <a:cs typeface="Times New Roman" panose="02020603050405020304" pitchFamily="18" charset="0"/>
                        </a:rPr>
                        <a:t>Relevance to Project</a:t>
                      </a:r>
                      <a:endParaRPr lang="en-IN" sz="1800" dirty="0">
                        <a:latin typeface="Times New Roman" panose="02020603050405020304" pitchFamily="18" charset="0"/>
                        <a:cs typeface="Times New Roman" panose="02020603050405020304" pitchFamily="18" charset="0"/>
                      </a:endParaRPr>
                    </a:p>
                  </a:txBody>
                  <a:tcPr marL="63063" marR="63063" marT="31531" marB="31531" anchor="ctr"/>
                </a:tc>
                <a:extLst>
                  <a:ext uri="{0D108BD9-81ED-4DB2-BD59-A6C34878D82A}">
                    <a16:rowId xmlns:a16="http://schemas.microsoft.com/office/drawing/2014/main" val="2230204061"/>
                  </a:ext>
                </a:extLst>
              </a:tr>
              <a:tr h="1243716">
                <a:tc>
                  <a:txBody>
                    <a:bodyPr/>
                    <a:lstStyle/>
                    <a:p>
                      <a:pPr>
                        <a:buNone/>
                      </a:pPr>
                      <a:r>
                        <a:rPr lang="en-IN" sz="1800" dirty="0">
                          <a:latin typeface="Times New Roman" panose="02020603050405020304" pitchFamily="18" charset="0"/>
                          <a:cs typeface="Times New Roman" panose="02020603050405020304" pitchFamily="18" charset="0"/>
                        </a:rPr>
                        <a:t>1</a:t>
                      </a:r>
                    </a:p>
                  </a:txBody>
                  <a:tcPr marL="63063" marR="63063" marT="31531" marB="31531" anchor="ctr"/>
                </a:tc>
                <a:tc>
                  <a:txBody>
                    <a:bodyPr/>
                    <a:lstStyle/>
                    <a:p>
                      <a:pPr>
                        <a:buNone/>
                      </a:pPr>
                      <a:r>
                        <a:rPr lang="en-IN" sz="1800" dirty="0">
                          <a:latin typeface="Times New Roman" panose="02020603050405020304" pitchFamily="18" charset="0"/>
                          <a:cs typeface="Times New Roman" panose="02020603050405020304" pitchFamily="18" charset="0"/>
                        </a:rPr>
                        <a:t>Rosenberger J., 2025</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CareerBERT: Matching resumes to ESCO jobs</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Proposed BERT-based embedding for semantic resume–JD matching</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Basis for semantic similarity in Resume Analyzer</a:t>
                      </a:r>
                    </a:p>
                  </a:txBody>
                  <a:tcPr marL="63063" marR="63063" marT="31531" marB="31531" anchor="ctr"/>
                </a:tc>
                <a:extLst>
                  <a:ext uri="{0D108BD9-81ED-4DB2-BD59-A6C34878D82A}">
                    <a16:rowId xmlns:a16="http://schemas.microsoft.com/office/drawing/2014/main" val="2855342552"/>
                  </a:ext>
                </a:extLst>
              </a:tr>
              <a:tr h="1243716">
                <a:tc>
                  <a:txBody>
                    <a:bodyPr/>
                    <a:lstStyle/>
                    <a:p>
                      <a:pPr>
                        <a:buNone/>
                      </a:pPr>
                      <a:r>
                        <a:rPr lang="en-IN" sz="1800" dirty="0">
                          <a:latin typeface="Times New Roman" panose="02020603050405020304" pitchFamily="18" charset="0"/>
                          <a:cs typeface="Times New Roman" panose="02020603050405020304" pitchFamily="18" charset="0"/>
                        </a:rPr>
                        <a:t>2</a:t>
                      </a:r>
                    </a:p>
                  </a:txBody>
                  <a:tcPr marL="63063" marR="63063" marT="31531" marB="31531" anchor="ctr"/>
                </a:tc>
                <a:tc>
                  <a:txBody>
                    <a:bodyPr/>
                    <a:lstStyle/>
                    <a:p>
                      <a:pPr>
                        <a:buNone/>
                      </a:pPr>
                      <a:r>
                        <a:rPr lang="sv-SE" sz="1800" dirty="0">
                          <a:latin typeface="Times New Roman" panose="02020603050405020304" pitchFamily="18" charset="0"/>
                          <a:cs typeface="Times New Roman" panose="02020603050405020304" pitchFamily="18" charset="0"/>
                        </a:rPr>
                        <a:t>Bevara R.V.K., 2025</a:t>
                      </a:r>
                    </a:p>
                  </a:txBody>
                  <a:tcPr marL="63063" marR="63063" marT="31531" marB="31531" anchor="ctr"/>
                </a:tc>
                <a:tc>
                  <a:txBody>
                    <a:bodyPr/>
                    <a:lstStyle/>
                    <a:p>
                      <a:pPr>
                        <a:buNone/>
                      </a:pPr>
                      <a:r>
                        <a:rPr lang="en-IN" sz="1800">
                          <a:latin typeface="Times New Roman" panose="02020603050405020304" pitchFamily="18" charset="0"/>
                          <a:cs typeface="Times New Roman" panose="02020603050405020304" pitchFamily="18" charset="0"/>
                        </a:rPr>
                        <a:t>Resume2Vec: Transforming ATS</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Developed Resume2Vec embeddings for better job retrieval</a:t>
                      </a:r>
                    </a:p>
                  </a:txBody>
                  <a:tcPr marL="63063" marR="63063" marT="31531" marB="31531" anchor="ctr"/>
                </a:tc>
                <a:tc>
                  <a:txBody>
                    <a:bodyPr/>
                    <a:lstStyle/>
                    <a:p>
                      <a:pPr>
                        <a:buNone/>
                      </a:pPr>
                      <a:r>
                        <a:rPr lang="en-IN" sz="1800">
                          <a:latin typeface="Times New Roman" panose="02020603050405020304" pitchFamily="18" charset="0"/>
                          <a:cs typeface="Times New Roman" panose="02020603050405020304" pitchFamily="18" charset="0"/>
                        </a:rPr>
                        <a:t>Supports embedding-based scoring system</a:t>
                      </a:r>
                    </a:p>
                  </a:txBody>
                  <a:tcPr marL="63063" marR="63063" marT="31531" marB="31531" anchor="ctr"/>
                </a:tc>
                <a:extLst>
                  <a:ext uri="{0D108BD9-81ED-4DB2-BD59-A6C34878D82A}">
                    <a16:rowId xmlns:a16="http://schemas.microsoft.com/office/drawing/2014/main" val="3028908298"/>
                  </a:ext>
                </a:extLst>
              </a:tr>
              <a:tr h="1172725">
                <a:tc>
                  <a:txBody>
                    <a:bodyPr/>
                    <a:lstStyle/>
                    <a:p>
                      <a:pPr>
                        <a:buNone/>
                      </a:pPr>
                      <a:r>
                        <a:rPr lang="en-IN" sz="1800" dirty="0">
                          <a:latin typeface="Times New Roman" panose="02020603050405020304" pitchFamily="18" charset="0"/>
                          <a:cs typeface="Times New Roman" panose="02020603050405020304" pitchFamily="18" charset="0"/>
                        </a:rPr>
                        <a:t>3</a:t>
                      </a:r>
                    </a:p>
                  </a:txBody>
                  <a:tcPr marL="63063" marR="63063" marT="31531" marB="31531" anchor="ctr"/>
                </a:tc>
                <a:tc>
                  <a:txBody>
                    <a:bodyPr/>
                    <a:lstStyle/>
                    <a:p>
                      <a:pPr>
                        <a:buNone/>
                      </a:pPr>
                      <a:r>
                        <a:rPr lang="en-IN" sz="1800" dirty="0" err="1">
                          <a:latin typeface="Times New Roman" panose="02020603050405020304" pitchFamily="18" charset="0"/>
                          <a:cs typeface="Times New Roman" panose="02020603050405020304" pitchFamily="18" charset="0"/>
                        </a:rPr>
                        <a:t>Thatavarthi</a:t>
                      </a:r>
                      <a:r>
                        <a:rPr lang="en-IN" sz="1800" dirty="0">
                          <a:latin typeface="Times New Roman" panose="02020603050405020304" pitchFamily="18" charset="0"/>
                          <a:cs typeface="Times New Roman" panose="02020603050405020304" pitchFamily="18" charset="0"/>
                        </a:rPr>
                        <a:t> G.S. et al., 2023</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Automated Resume Parsing: An NLP Approach</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Designed NLP pipeline for resume parsing &amp; entity extraction</a:t>
                      </a:r>
                    </a:p>
                  </a:txBody>
                  <a:tcPr marL="63063" marR="63063" marT="31531" marB="31531" anchor="ctr"/>
                </a:tc>
                <a:tc>
                  <a:txBody>
                    <a:bodyPr/>
                    <a:lstStyle/>
                    <a:p>
                      <a:pPr>
                        <a:buNone/>
                      </a:pPr>
                      <a:r>
                        <a:rPr lang="en-IN" sz="1800">
                          <a:latin typeface="Times New Roman" panose="02020603050405020304" pitchFamily="18" charset="0"/>
                          <a:cs typeface="Times New Roman" panose="02020603050405020304" pitchFamily="18" charset="0"/>
                        </a:rPr>
                        <a:t>Guides resume parsing module</a:t>
                      </a:r>
                    </a:p>
                  </a:txBody>
                  <a:tcPr marL="63063" marR="63063" marT="31531" marB="31531" anchor="ctr"/>
                </a:tc>
                <a:extLst>
                  <a:ext uri="{0D108BD9-81ED-4DB2-BD59-A6C34878D82A}">
                    <a16:rowId xmlns:a16="http://schemas.microsoft.com/office/drawing/2014/main" val="817161284"/>
                  </a:ext>
                </a:extLst>
              </a:tr>
              <a:tr h="949686">
                <a:tc>
                  <a:txBody>
                    <a:bodyPr/>
                    <a:lstStyle/>
                    <a:p>
                      <a:pPr>
                        <a:buNone/>
                      </a:pPr>
                      <a:r>
                        <a:rPr lang="en-IN" sz="1800">
                          <a:latin typeface="Times New Roman" panose="02020603050405020304" pitchFamily="18" charset="0"/>
                          <a:cs typeface="Times New Roman" panose="02020603050405020304" pitchFamily="18" charset="0"/>
                        </a:rPr>
                        <a:t>4</a:t>
                      </a:r>
                    </a:p>
                  </a:txBody>
                  <a:tcPr marL="63063" marR="63063" marT="31531" marB="31531" anchor="ctr"/>
                </a:tc>
                <a:tc>
                  <a:txBody>
                    <a:bodyPr/>
                    <a:lstStyle/>
                    <a:p>
                      <a:pPr>
                        <a:buNone/>
                      </a:pPr>
                      <a:r>
                        <a:rPr lang="en-US" sz="1800" dirty="0">
                          <a:latin typeface="Times New Roman" panose="02020603050405020304" pitchFamily="18" charset="0"/>
                          <a:cs typeface="Times New Roman" panose="02020603050405020304" pitchFamily="18" charset="0"/>
                        </a:rPr>
                        <a:t>Enhanced Resume Screening using S-BERT, 2024</a:t>
                      </a:r>
                    </a:p>
                  </a:txBody>
                  <a:tcPr marL="63063" marR="63063" marT="31531" marB="31531" anchor="ctr"/>
                </a:tc>
                <a:tc>
                  <a:txBody>
                    <a:bodyPr/>
                    <a:lstStyle/>
                    <a:p>
                      <a:pPr>
                        <a:buNone/>
                      </a:pPr>
                      <a:r>
                        <a:rPr lang="en-IN" sz="1800" dirty="0" err="1">
                          <a:latin typeface="Times New Roman" panose="02020603050405020304" pitchFamily="18" charset="0"/>
                          <a:cs typeface="Times New Roman" panose="02020603050405020304" pitchFamily="18" charset="0"/>
                        </a:rPr>
                        <a:t>TheSAI</a:t>
                      </a:r>
                      <a:r>
                        <a:rPr lang="en-IN" sz="1800" dirty="0">
                          <a:latin typeface="Times New Roman" panose="02020603050405020304" pitchFamily="18" charset="0"/>
                          <a:cs typeface="Times New Roman" panose="02020603050405020304" pitchFamily="18" charset="0"/>
                        </a:rPr>
                        <a:t> Publication</a:t>
                      </a:r>
                    </a:p>
                  </a:txBody>
                  <a:tcPr marL="63063" marR="63063" marT="31531" marB="31531" anchor="ctr"/>
                </a:tc>
                <a:tc>
                  <a:txBody>
                    <a:bodyPr/>
                    <a:lstStyle/>
                    <a:p>
                      <a:pPr>
                        <a:buNone/>
                      </a:pPr>
                      <a:r>
                        <a:rPr lang="en-US" sz="1800">
                          <a:latin typeface="Times New Roman" panose="02020603050405020304" pitchFamily="18" charset="0"/>
                          <a:cs typeface="Times New Roman" panose="02020603050405020304" pitchFamily="18" charset="0"/>
                        </a:rPr>
                        <a:t>Used Sentence-BERT for resume–JD similarity</a:t>
                      </a:r>
                    </a:p>
                  </a:txBody>
                  <a:tcPr marL="63063" marR="63063" marT="31531" marB="31531" anchor="ctr"/>
                </a:tc>
                <a:tc>
                  <a:txBody>
                    <a:bodyPr/>
                    <a:lstStyle/>
                    <a:p>
                      <a:pPr>
                        <a:buNone/>
                      </a:pPr>
                      <a:r>
                        <a:rPr lang="en-IN" sz="1800">
                          <a:latin typeface="Times New Roman" panose="02020603050405020304" pitchFamily="18" charset="0"/>
                          <a:cs typeface="Times New Roman" panose="02020603050405020304" pitchFamily="18" charset="0"/>
                        </a:rPr>
                        <a:t>Validates semantic matching approach</a:t>
                      </a:r>
                    </a:p>
                  </a:txBody>
                  <a:tcPr marL="63063" marR="63063" marT="31531" marB="31531" anchor="ctr"/>
                </a:tc>
                <a:extLst>
                  <a:ext uri="{0D108BD9-81ED-4DB2-BD59-A6C34878D82A}">
                    <a16:rowId xmlns:a16="http://schemas.microsoft.com/office/drawing/2014/main" val="1730237280"/>
                  </a:ext>
                </a:extLst>
              </a:tr>
              <a:tr h="949686">
                <a:tc>
                  <a:txBody>
                    <a:bodyPr/>
                    <a:lstStyle/>
                    <a:p>
                      <a:pPr>
                        <a:buNone/>
                      </a:pPr>
                      <a:r>
                        <a:rPr lang="en-IN" sz="1800">
                          <a:latin typeface="Times New Roman" panose="02020603050405020304" pitchFamily="18" charset="0"/>
                          <a:cs typeface="Times New Roman" panose="02020603050405020304" pitchFamily="18" charset="0"/>
                        </a:rPr>
                        <a:t>5</a:t>
                      </a:r>
                    </a:p>
                  </a:txBody>
                  <a:tcPr marL="63063" marR="63063" marT="31531" marB="31531" anchor="ctr"/>
                </a:tc>
                <a:tc>
                  <a:txBody>
                    <a:bodyPr/>
                    <a:lstStyle/>
                    <a:p>
                      <a:pPr>
                        <a:buNone/>
                      </a:pPr>
                      <a:r>
                        <a:rPr lang="en-IN" sz="1800">
                          <a:latin typeface="Times New Roman" panose="02020603050405020304" pitchFamily="18" charset="0"/>
                          <a:cs typeface="Times New Roman" panose="02020603050405020304" pitchFamily="18" charset="0"/>
                        </a:rPr>
                        <a:t>IOSR Journals, 2025</a:t>
                      </a:r>
                    </a:p>
                  </a:txBody>
                  <a:tcPr marL="63063" marR="63063" marT="31531" marB="31531" anchor="ctr"/>
                </a:tc>
                <a:tc>
                  <a:txBody>
                    <a:bodyPr/>
                    <a:lstStyle/>
                    <a:p>
                      <a:pPr>
                        <a:buNone/>
                      </a:pPr>
                      <a:r>
                        <a:rPr lang="en-US" sz="1800" dirty="0">
                          <a:latin typeface="Times New Roman" panose="02020603050405020304" pitchFamily="18" charset="0"/>
                          <a:cs typeface="Times New Roman" panose="02020603050405020304" pitchFamily="18" charset="0"/>
                        </a:rPr>
                        <a:t>Comparison of Models for Resume–JD Matching</a:t>
                      </a:r>
                    </a:p>
                  </a:txBody>
                  <a:tcPr marL="63063" marR="63063" marT="31531" marB="31531" anchor="ctr"/>
                </a:tc>
                <a:tc>
                  <a:txBody>
                    <a:bodyPr/>
                    <a:lstStyle/>
                    <a:p>
                      <a:pPr>
                        <a:buNone/>
                      </a:pPr>
                      <a:r>
                        <a:rPr lang="en-US" sz="1800" dirty="0">
                          <a:latin typeface="Times New Roman" panose="02020603050405020304" pitchFamily="18" charset="0"/>
                          <a:cs typeface="Times New Roman" panose="02020603050405020304" pitchFamily="18" charset="0"/>
                        </a:rPr>
                        <a:t>Compared BERT with TF-IDF &amp; traditional models</a:t>
                      </a:r>
                    </a:p>
                  </a:txBody>
                  <a:tcPr marL="63063" marR="63063" marT="31531" marB="31531" anchor="ctr"/>
                </a:tc>
                <a:tc>
                  <a:txBody>
                    <a:bodyPr/>
                    <a:lstStyle/>
                    <a:p>
                      <a:pPr>
                        <a:buNone/>
                      </a:pPr>
                      <a:r>
                        <a:rPr lang="en-IN" sz="1800" dirty="0">
                          <a:latin typeface="Times New Roman" panose="02020603050405020304" pitchFamily="18" charset="0"/>
                          <a:cs typeface="Times New Roman" panose="02020603050405020304" pitchFamily="18" charset="0"/>
                        </a:rPr>
                        <a:t>Confirms superiority of transformers</a:t>
                      </a:r>
                    </a:p>
                  </a:txBody>
                  <a:tcPr marL="63063" marR="63063" marT="31531" marB="31531" anchor="ctr"/>
                </a:tc>
                <a:extLst>
                  <a:ext uri="{0D108BD9-81ED-4DB2-BD59-A6C34878D82A}">
                    <a16:rowId xmlns:a16="http://schemas.microsoft.com/office/drawing/2014/main" val="63592047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Problem Statement</a:t>
            </a:r>
            <a:endParaRPr lang="en-US" sz="4000" dirty="0"/>
          </a:p>
        </p:txBody>
      </p:sp>
      <p:sp>
        <p:nvSpPr>
          <p:cNvPr id="9" name="TextBox 8">
            <a:extLst>
              <a:ext uri="{FF2B5EF4-FFF2-40B4-BE49-F238E27FC236}">
                <a16:creationId xmlns:a16="http://schemas.microsoft.com/office/drawing/2014/main" id="{0E1A982D-8AD7-B408-AEC4-73C220FE94F9}"/>
              </a:ext>
            </a:extLst>
          </p:cNvPr>
          <p:cNvSpPr txBox="1"/>
          <p:nvPr/>
        </p:nvSpPr>
        <p:spPr>
          <a:xfrm>
            <a:off x="707923" y="1089966"/>
            <a:ext cx="10665471" cy="550920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In today’s competitive job market, applicants face significant challenges in creating resumes that are both professionally structured and compatible with Applicant Tracking Systems (ATS). Most resumes fail to highlight relevant skills, match specific job descriptions, or meet formatting standards required by recruiters. As a result, qualified candidates are often overlooked, while recruiters spend excessive time screening unsuitable resumes. There is a need for an intelligent system that can automatically analyze, score, and optimize resumes while also providing tools to build professional, ATS-friendly documents tailored to job requirements.</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2192000" cy="6858000"/>
          </a:xfrm>
        </p:spPr>
        <p:txBody>
          <a:bodyPr>
            <a:normAutofit/>
          </a:bodyPr>
          <a:lstStyle/>
          <a:p>
            <a:pPr indent="465455"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455"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a:p>
            <a:pPr indent="465455"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10308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Objectives</a:t>
            </a:r>
            <a:endParaRPr lang="en-US" sz="4000" dirty="0"/>
          </a:p>
        </p:txBody>
      </p:sp>
      <p:sp>
        <p:nvSpPr>
          <p:cNvPr id="7" name="Rectangle 2">
            <a:extLst>
              <a:ext uri="{FF2B5EF4-FFF2-40B4-BE49-F238E27FC236}">
                <a16:creationId xmlns:a16="http://schemas.microsoft.com/office/drawing/2014/main" id="{B58B388D-FF0C-D46E-294C-448275D2F8D6}"/>
              </a:ext>
            </a:extLst>
          </p:cNvPr>
          <p:cNvSpPr>
            <a:spLocks noChangeArrowheads="1"/>
          </p:cNvSpPr>
          <p:nvPr/>
        </p:nvSpPr>
        <p:spPr bwMode="auto">
          <a:xfrm>
            <a:off x="290052" y="1182139"/>
            <a:ext cx="967002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AI-powered system for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analysis and optimization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resumes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ATS-compatible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aligned with specific job descriptions.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 techniques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extracting skills, education, and experience from resumes.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semantic matching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between resumes and job descriptions using embeddings (TF-IDF/BERT).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Builder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customizable templates and AI-assisted content suggestions.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scorecard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highlighting strengths, weaknesses, and missing skills.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users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download/export resumes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professional formats (PDF/DOCX).</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build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user-friendly, and secure web application.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0544" y="1605064"/>
            <a:ext cx="5473562" cy="5252936"/>
          </a:xfrm>
        </p:spPr>
        <p:txBody>
          <a:bodyPr>
            <a:noAutofit/>
          </a:bodyPr>
          <a:lstStyle/>
          <a:p>
            <a:pPr algn="just"/>
            <a:r>
              <a:rPr lang="en-IN" sz="1600" b="1" dirty="0">
                <a:latin typeface="Times New Roman" panose="02020603050405020304" pitchFamily="18" charset="0"/>
                <a:cs typeface="Times New Roman" panose="02020603050405020304" pitchFamily="18" charset="0"/>
              </a:rPr>
              <a:t>For Development (Developer System):</a:t>
            </a:r>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Processor: Intel Core i5/i7 or AMD equivalent (2.4 GHz or higher)</a:t>
            </a:r>
          </a:p>
          <a:p>
            <a:pPr algn="just"/>
            <a:r>
              <a:rPr lang="en-IN" sz="1600" dirty="0">
                <a:latin typeface="Times New Roman" panose="02020603050405020304" pitchFamily="18" charset="0"/>
                <a:cs typeface="Times New Roman" panose="02020603050405020304" pitchFamily="18" charset="0"/>
              </a:rPr>
              <a:t>RAM: Minimum 8 GB (16 GB recommended for AI/NLP tasks)</a:t>
            </a:r>
          </a:p>
          <a:p>
            <a:pPr algn="just"/>
            <a:r>
              <a:rPr lang="en-IN" sz="1600" dirty="0">
                <a:latin typeface="Times New Roman" panose="02020603050405020304" pitchFamily="18" charset="0"/>
                <a:cs typeface="Times New Roman" panose="02020603050405020304" pitchFamily="18" charset="0"/>
              </a:rPr>
              <a:t>Storage: 500 GB HDD / 256 GB SSD (preferred)</a:t>
            </a:r>
          </a:p>
          <a:p>
            <a:pPr algn="just"/>
            <a:r>
              <a:rPr lang="en-IN" sz="1600" dirty="0">
                <a:latin typeface="Times New Roman" panose="02020603050405020304" pitchFamily="18" charset="0"/>
                <a:cs typeface="Times New Roman" panose="02020603050405020304" pitchFamily="18" charset="0"/>
              </a:rPr>
              <a:t>Graphics: Dedicated GPU (NVIDIA GTX/RTX series) if AI models run locally</a:t>
            </a:r>
          </a:p>
          <a:p>
            <a:pPr algn="just"/>
            <a:r>
              <a:rPr lang="en-IN" sz="1600" dirty="0">
                <a:latin typeface="Times New Roman" panose="02020603050405020304" pitchFamily="18" charset="0"/>
                <a:cs typeface="Times New Roman" panose="02020603050405020304" pitchFamily="18" charset="0"/>
              </a:rPr>
              <a:t>Network: Stable internet connection</a:t>
            </a:r>
          </a:p>
          <a:p>
            <a:pPr algn="just"/>
            <a:r>
              <a:rPr lang="en-IN" sz="1600" b="1" dirty="0">
                <a:latin typeface="Times New Roman" panose="02020603050405020304" pitchFamily="18" charset="0"/>
                <a:cs typeface="Times New Roman" panose="02020603050405020304" pitchFamily="18" charset="0"/>
              </a:rPr>
              <a:t>For End Users (Client Devices):</a:t>
            </a:r>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Device: PC/Laptop/Smartphone with a modern browser</a:t>
            </a:r>
          </a:p>
          <a:p>
            <a:pPr algn="just"/>
            <a:r>
              <a:rPr lang="en-IN" sz="1600" dirty="0">
                <a:latin typeface="Times New Roman" panose="02020603050405020304" pitchFamily="18" charset="0"/>
                <a:cs typeface="Times New Roman" panose="02020603050405020304" pitchFamily="18" charset="0"/>
              </a:rPr>
              <a:t>Processor: Dual Core or higher</a:t>
            </a:r>
          </a:p>
          <a:p>
            <a:pPr algn="just"/>
            <a:r>
              <a:rPr lang="en-IN" sz="1600" dirty="0">
                <a:latin typeface="Times New Roman" panose="02020603050405020304" pitchFamily="18" charset="0"/>
                <a:cs typeface="Times New Roman" panose="02020603050405020304" pitchFamily="18" charset="0"/>
              </a:rPr>
              <a:t>RAM: 4 GB minimum</a:t>
            </a:r>
          </a:p>
          <a:p>
            <a:pPr algn="just"/>
            <a:r>
              <a:rPr lang="en-IN" sz="1600" dirty="0">
                <a:latin typeface="Times New Roman" panose="02020603050405020304" pitchFamily="18" charset="0"/>
                <a:cs typeface="Times New Roman" panose="02020603050405020304" pitchFamily="18" charset="0"/>
              </a:rPr>
              <a:t>Storage: 200 MB free space (temporary file handling)</a:t>
            </a:r>
          </a:p>
          <a:p>
            <a:pPr algn="just"/>
            <a:r>
              <a:rPr lang="en-IN" sz="1600" dirty="0">
                <a:latin typeface="Times New Roman" panose="02020603050405020304" pitchFamily="18" charset="0"/>
                <a:cs typeface="Times New Roman" panose="02020603050405020304" pitchFamily="18" charset="0"/>
              </a:rPr>
              <a:t>Network: Stable internet connection</a:t>
            </a:r>
          </a:p>
          <a:p>
            <a:pPr algn="just"/>
            <a:endParaRPr lang="en-IN" sz="1600" dirty="0">
              <a:latin typeface="Times New Roman" panose="02020603050405020304" pitchFamily="18" charset="0"/>
              <a:cs typeface="Times New Roman" panose="02020603050405020304" pitchFamily="18" charset="0"/>
            </a:endParaRPr>
          </a:p>
        </p:txBody>
      </p:sp>
      <p:sp>
        <p:nvSpPr>
          <p:cNvPr id="2" name="Content Placeholder 4"/>
          <p:cNvSpPr txBox="1"/>
          <p:nvPr/>
        </p:nvSpPr>
        <p:spPr>
          <a:xfrm>
            <a:off x="6096000" y="1038779"/>
            <a:ext cx="5646323" cy="45188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7000"/>
              </a:lnSpc>
              <a:spcAft>
                <a:spcPts val="800"/>
              </a:spcAft>
              <a:buNone/>
            </a:pPr>
            <a:r>
              <a:rPr lang="en-IN" sz="1800" b="1" kern="100" dirty="0">
                <a:latin typeface="Times New Roman" panose="02020603050405020304" pitchFamily="18" charset="0"/>
                <a:ea typeface="Calibri" panose="020F0502020204030204" charset="0"/>
                <a:cs typeface="Times New Roman" panose="02020603050405020304" pitchFamily="18" charset="0"/>
              </a:rPr>
              <a:t>II</a:t>
            </a:r>
            <a:r>
              <a:rPr lang="en-IN" sz="1800" kern="100" dirty="0">
                <a:latin typeface="Times New Roman" panose="02020603050405020304" pitchFamily="18" charset="0"/>
                <a:ea typeface="Calibri" panose="020F0502020204030204" charset="0"/>
                <a:cs typeface="Times New Roman" panose="02020603050405020304" pitchFamily="18" charset="0"/>
              </a:rPr>
              <a:t>. </a:t>
            </a:r>
            <a:r>
              <a:rPr lang="en-IN" sz="1800" b="1" kern="100" dirty="0">
                <a:latin typeface="Times New Roman" panose="02020603050405020304" pitchFamily="18" charset="0"/>
                <a:ea typeface="Calibri" panose="020F0502020204030204" charset="0"/>
                <a:cs typeface="Times New Roman" panose="02020603050405020304" pitchFamily="18" charset="0"/>
              </a:rPr>
              <a:t>Software Requirement:</a:t>
            </a:r>
          </a:p>
          <a:p>
            <a:pPr algn="just"/>
            <a:r>
              <a:rPr lang="en-IN" sz="1600" b="1" dirty="0">
                <a:latin typeface="Times New Roman" panose="02020603050405020304" pitchFamily="18" charset="0"/>
                <a:cs typeface="Times New Roman" panose="02020603050405020304" pitchFamily="18" charset="0"/>
              </a:rPr>
              <a:t>For Development Environment:</a:t>
            </a:r>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Operating System: Windows 10/11, Linux (Ubuntu), or macOS</a:t>
            </a:r>
          </a:p>
          <a:p>
            <a:pPr algn="just"/>
            <a:r>
              <a:rPr lang="en-IN" sz="1600" dirty="0">
                <a:latin typeface="Times New Roman" panose="02020603050405020304" pitchFamily="18" charset="0"/>
                <a:cs typeface="Times New Roman" panose="02020603050405020304" pitchFamily="18" charset="0"/>
              </a:rPr>
              <a:t>Programming Languages:</a:t>
            </a:r>
          </a:p>
          <a:p>
            <a:pPr lvl="1" algn="just"/>
            <a:r>
              <a:rPr lang="en-IN" sz="1600" dirty="0">
                <a:latin typeface="Times New Roman" panose="02020603050405020304" pitchFamily="18" charset="0"/>
                <a:cs typeface="Times New Roman" panose="02020603050405020304" pitchFamily="18" charset="0"/>
              </a:rPr>
              <a:t>Python (AI/NLP development –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NLTK, Transformers)</a:t>
            </a:r>
          </a:p>
          <a:p>
            <a:pPr lvl="1" algn="just"/>
            <a:r>
              <a:rPr lang="en-IN" sz="1600" dirty="0">
                <a:latin typeface="Times New Roman" panose="02020603050405020304" pitchFamily="18" charset="0"/>
                <a:cs typeface="Times New Roman" panose="02020603050405020304" pitchFamily="18" charset="0"/>
              </a:rPr>
              <a:t>JavaScript/TypeScript (Frontend + Backend)</a:t>
            </a:r>
          </a:p>
          <a:p>
            <a:pPr algn="just"/>
            <a:r>
              <a:rPr lang="en-IN" sz="1600" dirty="0">
                <a:latin typeface="Times New Roman" panose="02020603050405020304" pitchFamily="18" charset="0"/>
                <a:cs typeface="Times New Roman" panose="02020603050405020304" pitchFamily="18" charset="0"/>
              </a:rPr>
              <a:t>Frameworks / Libraries:</a:t>
            </a:r>
          </a:p>
          <a:p>
            <a:pPr lvl="1" algn="just"/>
            <a:r>
              <a:rPr lang="en-IN" sz="1600" dirty="0">
                <a:latin typeface="Times New Roman" panose="02020603050405020304" pitchFamily="18" charset="0"/>
                <a:cs typeface="Times New Roman" panose="02020603050405020304" pitchFamily="18" charset="0"/>
              </a:rPr>
              <a:t>Frontend: React.js / Next.js, Tailwind CSS / Bootstrap</a:t>
            </a:r>
          </a:p>
          <a:p>
            <a:pPr lvl="1" algn="just"/>
            <a:r>
              <a:rPr lang="en-IN" sz="1600" dirty="0">
                <a:latin typeface="Times New Roman" panose="02020603050405020304" pitchFamily="18" charset="0"/>
                <a:cs typeface="Times New Roman" panose="02020603050405020304" pitchFamily="18" charset="0"/>
              </a:rPr>
              <a:t>Backend: Node.js (Express) or Django/Flask</a:t>
            </a:r>
          </a:p>
          <a:p>
            <a:pPr lvl="1" algn="just"/>
            <a:r>
              <a:rPr lang="en-IN" sz="1600" dirty="0">
                <a:latin typeface="Times New Roman" panose="02020603050405020304" pitchFamily="18" charset="0"/>
                <a:cs typeface="Times New Roman" panose="02020603050405020304" pitchFamily="18" charset="0"/>
              </a:rPr>
              <a:t>AI/NLP: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NLTK, scikit-learn, TensorFlow /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Hugging Face Transformers</a:t>
            </a:r>
          </a:p>
          <a:p>
            <a:pPr lvl="1" algn="just"/>
            <a:r>
              <a:rPr lang="en-IN" sz="1600" dirty="0">
                <a:latin typeface="Times New Roman" panose="02020603050405020304" pitchFamily="18" charset="0"/>
                <a:cs typeface="Times New Roman" panose="02020603050405020304" pitchFamily="18" charset="0"/>
              </a:rPr>
              <a:t>Parsing Tools: </a:t>
            </a:r>
            <a:r>
              <a:rPr lang="en-IN" sz="1600" dirty="0" err="1">
                <a:latin typeface="Times New Roman" panose="02020603050405020304" pitchFamily="18" charset="0"/>
                <a:cs typeface="Times New Roman" panose="02020603050405020304" pitchFamily="18" charset="0"/>
              </a:rPr>
              <a:t>PDFPlumber</a:t>
            </a:r>
            <a:r>
              <a:rPr lang="en-IN" sz="1600" dirty="0">
                <a:latin typeface="Times New Roman" panose="02020603050405020304" pitchFamily="18" charset="0"/>
                <a:cs typeface="Times New Roman" panose="02020603050405020304" pitchFamily="18" charset="0"/>
              </a:rPr>
              <a:t>, docx2txt</a:t>
            </a:r>
          </a:p>
          <a:p>
            <a:pPr algn="just"/>
            <a:r>
              <a:rPr lang="en-IN" sz="1600" dirty="0">
                <a:latin typeface="Times New Roman" panose="02020603050405020304" pitchFamily="18" charset="0"/>
                <a:cs typeface="Times New Roman" panose="02020603050405020304" pitchFamily="18" charset="0"/>
              </a:rPr>
              <a:t>Database: MongoDB / PostgreSQL / MySQL</a:t>
            </a:r>
          </a:p>
          <a:p>
            <a:pPr algn="just"/>
            <a:r>
              <a:rPr lang="en-IN" sz="1600" dirty="0">
                <a:latin typeface="Times New Roman" panose="02020603050405020304" pitchFamily="18" charset="0"/>
                <a:cs typeface="Times New Roman" panose="02020603050405020304" pitchFamily="18" charset="0"/>
              </a:rPr>
              <a:t>Web Server: Nginx / Apache</a:t>
            </a:r>
          </a:p>
          <a:p>
            <a:pPr algn="just"/>
            <a:r>
              <a:rPr lang="en-IN" sz="1600" dirty="0">
                <a:latin typeface="Times New Roman" panose="02020603050405020304" pitchFamily="18" charset="0"/>
                <a:cs typeface="Times New Roman" panose="02020603050405020304" pitchFamily="18" charset="0"/>
              </a:rPr>
              <a:t>Package Managers: </a:t>
            </a:r>
            <a:r>
              <a:rPr lang="en-IN" sz="1600"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 pip</a:t>
            </a:r>
          </a:p>
          <a:p>
            <a:pPr algn="just"/>
            <a:r>
              <a:rPr lang="en-IN" sz="1600" dirty="0">
                <a:latin typeface="Times New Roman" panose="02020603050405020304" pitchFamily="18" charset="0"/>
                <a:cs typeface="Times New Roman" panose="02020603050405020304" pitchFamily="18" charset="0"/>
              </a:rPr>
              <a:t>Cloud Services (Optional): AWS / Firebase / </a:t>
            </a:r>
            <a:r>
              <a:rPr lang="en-IN" sz="1600" dirty="0" err="1">
                <a:latin typeface="Times New Roman" panose="02020603050405020304" pitchFamily="18" charset="0"/>
                <a:cs typeface="Times New Roman" panose="02020603050405020304" pitchFamily="18" charset="0"/>
              </a:rPr>
              <a:t>Vercel</a:t>
            </a:r>
            <a:r>
              <a:rPr lang="en-IN" sz="1600" dirty="0">
                <a:latin typeface="Times New Roman" panose="02020603050405020304" pitchFamily="18" charset="0"/>
                <a:cs typeface="Times New Roman" panose="02020603050405020304" pitchFamily="18" charset="0"/>
              </a:rPr>
              <a:t> / Heroku</a:t>
            </a:r>
          </a:p>
          <a:p>
            <a:pPr algn="just"/>
            <a:r>
              <a:rPr lang="en-IN" sz="1600" dirty="0">
                <a:latin typeface="Times New Roman" panose="02020603050405020304" pitchFamily="18" charset="0"/>
                <a:cs typeface="Times New Roman" panose="02020603050405020304" pitchFamily="18" charset="0"/>
              </a:rPr>
              <a:t>Version Control: Git &amp; GitHub/GitLab</a:t>
            </a:r>
          </a:p>
          <a:p>
            <a:pPr marL="0" indent="0" algn="just">
              <a:lnSpc>
                <a:spcPct val="107000"/>
              </a:lnSpc>
              <a:spcAft>
                <a:spcPts val="800"/>
              </a:spcAft>
              <a:buNone/>
            </a:pPr>
            <a:endParaRPr lang="en-IN" sz="1600" kern="100" dirty="0">
              <a:latin typeface="Times New Roman" panose="02020603050405020304" pitchFamily="18" charset="0"/>
              <a:ea typeface="Calibri" panose="020F0502020204030204" charset="0"/>
              <a:cs typeface="Times New Roman" panose="02020603050405020304" pitchFamily="18" charset="0"/>
            </a:endParaRPr>
          </a:p>
        </p:txBody>
      </p:sp>
      <p:sp>
        <p:nvSpPr>
          <p:cNvPr id="6" name="Rounded Rectangle 5"/>
          <p:cNvSpPr/>
          <p:nvPr/>
        </p:nvSpPr>
        <p:spPr>
          <a:xfrm>
            <a:off x="0" y="72570"/>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System Requirements</a:t>
            </a:r>
            <a:endParaRPr lang="en-US" sz="4000" dirty="0"/>
          </a:p>
        </p:txBody>
      </p:sp>
      <p:sp>
        <p:nvSpPr>
          <p:cNvPr id="3" name="TextBox 2"/>
          <p:cNvSpPr txBox="1"/>
          <p:nvPr/>
        </p:nvSpPr>
        <p:spPr>
          <a:xfrm>
            <a:off x="594552" y="1038779"/>
            <a:ext cx="337433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 Hardware Requirement: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20029"/>
            <a:ext cx="12192000" cy="77551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Feasibility and Scope</a:t>
            </a:r>
          </a:p>
        </p:txBody>
      </p:sp>
      <p:sp>
        <p:nvSpPr>
          <p:cNvPr id="6" name="TextBox 5">
            <a:extLst>
              <a:ext uri="{FF2B5EF4-FFF2-40B4-BE49-F238E27FC236}">
                <a16:creationId xmlns:a16="http://schemas.microsoft.com/office/drawing/2014/main" id="{351164E2-9901-9250-1AB4-627AFDD60A11}"/>
              </a:ext>
            </a:extLst>
          </p:cNvPr>
          <p:cNvSpPr txBox="1"/>
          <p:nvPr/>
        </p:nvSpPr>
        <p:spPr>
          <a:xfrm>
            <a:off x="1058378" y="1159988"/>
            <a:ext cx="9628240" cy="2308324"/>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Feasibility</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Technical</a:t>
            </a:r>
            <a:r>
              <a:rPr lang="en-IN" sz="2400" dirty="0">
                <a:latin typeface="Times New Roman" panose="02020603050405020304" pitchFamily="18" charset="0"/>
                <a:cs typeface="Times New Roman" panose="02020603050405020304" pitchFamily="18" charset="0"/>
              </a:rPr>
              <a:t>: Uses AI/NLP (</a:t>
            </a:r>
            <a:r>
              <a:rPr lang="en-IN" sz="2400" dirty="0" err="1">
                <a:latin typeface="Times New Roman" panose="02020603050405020304" pitchFamily="18" charset="0"/>
                <a:cs typeface="Times New Roman" panose="02020603050405020304" pitchFamily="18" charset="0"/>
              </a:rPr>
              <a:t>spaCy</a:t>
            </a:r>
            <a:r>
              <a:rPr lang="en-IN" sz="2400" dirty="0">
                <a:latin typeface="Times New Roman" panose="02020603050405020304" pitchFamily="18" charset="0"/>
                <a:cs typeface="Times New Roman" panose="02020603050405020304" pitchFamily="18" charset="0"/>
              </a:rPr>
              <a:t>, BERT, GPT), web tech (React, Node.js/Django).</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Economic</a:t>
            </a:r>
            <a:r>
              <a:rPr lang="en-IN" sz="2400" dirty="0">
                <a:latin typeface="Times New Roman" panose="02020603050405020304" pitchFamily="18" charset="0"/>
                <a:cs typeface="Times New Roman" panose="02020603050405020304" pitchFamily="18" charset="0"/>
              </a:rPr>
              <a:t>: Mostly open-source tools; low-cost cloud deployment.</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Operational</a:t>
            </a:r>
            <a:r>
              <a:rPr lang="en-IN" sz="2400" dirty="0">
                <a:latin typeface="Times New Roman" panose="02020603050405020304" pitchFamily="18" charset="0"/>
                <a:cs typeface="Times New Roman" panose="02020603050405020304" pitchFamily="18" charset="0"/>
              </a:rPr>
              <a:t>: User-friendly, real-time feedback, scalable design.</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Time</a:t>
            </a:r>
            <a:r>
              <a:rPr lang="en-IN" sz="2400" dirty="0">
                <a:latin typeface="Times New Roman" panose="02020603050405020304" pitchFamily="18" charset="0"/>
                <a:cs typeface="Times New Roman" panose="02020603050405020304" pitchFamily="18" charset="0"/>
              </a:rPr>
              <a:t>: Modular development; achievable within 4–6 months.</a:t>
            </a:r>
          </a:p>
        </p:txBody>
      </p:sp>
      <p:sp>
        <p:nvSpPr>
          <p:cNvPr id="8" name="TextBox 7">
            <a:extLst>
              <a:ext uri="{FF2B5EF4-FFF2-40B4-BE49-F238E27FC236}">
                <a16:creationId xmlns:a16="http://schemas.microsoft.com/office/drawing/2014/main" id="{55E7C852-BD33-1C9F-20BD-99951CDC32CB}"/>
              </a:ext>
            </a:extLst>
          </p:cNvPr>
          <p:cNvSpPr txBox="1"/>
          <p:nvPr/>
        </p:nvSpPr>
        <p:spPr>
          <a:xfrm>
            <a:off x="1058378" y="3468312"/>
            <a:ext cx="9628240" cy="3046988"/>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Scope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Resume Analyzer: ATS compliance check, keyword matching, scoring.</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Resume Builder: AI-assisted content + customizable templates.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 Integration: NLP for parsing, embeddings for similarity, AI suggestions.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Accessibility: Web-based, cross-platform (PC, mobile, tablet).</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Scalability: Extendable to recruiter dashboards, LinkedIn import, interview prep.</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Impact: Improves employability and job shortlisting chances.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20027"/>
            <a:ext cx="12192000" cy="881922"/>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Risk Identified</a:t>
            </a:r>
          </a:p>
        </p:txBody>
      </p:sp>
      <p:sp>
        <p:nvSpPr>
          <p:cNvPr id="2" name="Rectangle 1">
            <a:extLst>
              <a:ext uri="{FF2B5EF4-FFF2-40B4-BE49-F238E27FC236}">
                <a16:creationId xmlns:a16="http://schemas.microsoft.com/office/drawing/2014/main" id="{B2AE74BF-8E14-8931-DD33-B8421A5F5081}"/>
              </a:ext>
            </a:extLst>
          </p:cNvPr>
          <p:cNvSpPr>
            <a:spLocks noChangeArrowheads="1"/>
          </p:cNvSpPr>
          <p:nvPr/>
        </p:nvSpPr>
        <p:spPr bwMode="auto">
          <a:xfrm>
            <a:off x="394132" y="1787881"/>
            <a:ext cx="8984999"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Privacy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Sensitive resume data may be exposed if not secured.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Accuracy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NLP models may misinterpret skills or context.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Compatibility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Generated resumes may not meet all ATS standards.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Server downtime, model errors, or integration failures.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Users may prefer traditional resume formats.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Performance issues with large numbers of users.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38881"/>
            <a:ext cx="12192000" cy="794973"/>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Back-up</a:t>
            </a:r>
            <a:endParaRPr lang="en-US" sz="4000" dirty="0"/>
          </a:p>
        </p:txBody>
      </p:sp>
      <p:sp>
        <p:nvSpPr>
          <p:cNvPr id="2" name="Content Placeholder 1">
            <a:extLst>
              <a:ext uri="{FF2B5EF4-FFF2-40B4-BE49-F238E27FC236}">
                <a16:creationId xmlns:a16="http://schemas.microsoft.com/office/drawing/2014/main" id="{19096287-E206-495A-CD3B-5114C1C3E3E6}"/>
              </a:ext>
            </a:extLst>
          </p:cNvPr>
          <p:cNvSpPr>
            <a:spLocks noGrp="1" noChangeArrowheads="1"/>
          </p:cNvSpPr>
          <p:nvPr>
            <p:ph idx="1"/>
          </p:nvPr>
        </p:nvSpPr>
        <p:spPr bwMode="auto">
          <a:xfrm>
            <a:off x="643029" y="1737599"/>
            <a:ext cx="827454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backups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(MongoDB/PostgreSQL).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storage redundancy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(AWS S3/Firebase).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Scheduled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backup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(daily/weekly).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Git/GitHub for source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Failover servers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uninterrupted service.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data recovery through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encrypted restore points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Periodic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of backup &amp; recovery process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07004"/>
            <a:ext cx="12192000" cy="81364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Proposed Methodology</a:t>
            </a:r>
            <a:endParaRPr lang="en-US" sz="4000" dirty="0"/>
          </a:p>
        </p:txBody>
      </p:sp>
      <p:sp>
        <p:nvSpPr>
          <p:cNvPr id="7" name="Content Placeholder 6"/>
          <p:cNvSpPr>
            <a:spLocks noGrp="1"/>
          </p:cNvSpPr>
          <p:nvPr>
            <p:ph idx="1"/>
          </p:nvPr>
        </p:nvSpPr>
        <p:spPr>
          <a:xfrm>
            <a:off x="93482" y="920652"/>
            <a:ext cx="10515600" cy="4351338"/>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Architecture Diagram: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33" y="1634247"/>
            <a:ext cx="11478638" cy="51264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291" y="354274"/>
            <a:ext cx="10618509" cy="6149451"/>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Algorithm:</a:t>
            </a:r>
          </a:p>
          <a:p>
            <a:pPr marL="0" indent="0">
              <a:buNone/>
            </a:pPr>
            <a:endParaRPr lang="en-IN" dirty="0"/>
          </a:p>
        </p:txBody>
      </p:sp>
      <p:sp>
        <p:nvSpPr>
          <p:cNvPr id="4" name="TextBox 3">
            <a:extLst>
              <a:ext uri="{FF2B5EF4-FFF2-40B4-BE49-F238E27FC236}">
                <a16:creationId xmlns:a16="http://schemas.microsoft.com/office/drawing/2014/main" id="{230D3AA3-40FD-6BC1-274E-4411DDF5993C}"/>
              </a:ext>
            </a:extLst>
          </p:cNvPr>
          <p:cNvSpPr txBox="1"/>
          <p:nvPr/>
        </p:nvSpPr>
        <p:spPr>
          <a:xfrm>
            <a:off x="462115" y="789056"/>
            <a:ext cx="11415251" cy="5632311"/>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Step 1: User Interaction</a:t>
            </a:r>
            <a:endParaRPr lang="en-IN"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 accesses the web application through a browser.</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Options: Upload Resume (PDF/DOCX), Enter Job Description, or Use Resume Builder.</a:t>
            </a:r>
          </a:p>
          <a:p>
            <a:pPr algn="just">
              <a:buNone/>
            </a:pPr>
            <a:r>
              <a:rPr lang="en-IN" sz="2000" b="1" dirty="0">
                <a:latin typeface="Times New Roman" panose="02020603050405020304" pitchFamily="18" charset="0"/>
                <a:cs typeface="Times New Roman" panose="02020603050405020304" pitchFamily="18" charset="0"/>
              </a:rPr>
              <a:t>Step 2: Frontend (Presentation Layer)</a:t>
            </a:r>
            <a:endParaRPr lang="en-IN"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Built with </a:t>
            </a:r>
            <a:r>
              <a:rPr lang="en-IN" sz="2000" b="1" dirty="0">
                <a:latin typeface="Times New Roman" panose="02020603050405020304" pitchFamily="18" charset="0"/>
                <a:cs typeface="Times New Roman" panose="02020603050405020304" pitchFamily="18" charset="0"/>
              </a:rPr>
              <a:t>React/Next.js + Tailwind CSS</a:t>
            </a:r>
            <a:r>
              <a:rPr lang="en-IN" sz="20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user-friendly interface for input, analysis, and resume preview.</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Sends data to backend through API calls.</a:t>
            </a:r>
          </a:p>
          <a:p>
            <a:pPr algn="just">
              <a:buNone/>
            </a:pPr>
            <a:r>
              <a:rPr lang="en-IN" sz="2000" b="1" dirty="0">
                <a:latin typeface="Times New Roman" panose="02020603050405020304" pitchFamily="18" charset="0"/>
                <a:cs typeface="Times New Roman" panose="02020603050405020304" pitchFamily="18" charset="0"/>
              </a:rPr>
              <a:t>Step 3: Backend (Application Layer)</a:t>
            </a:r>
            <a:endParaRPr lang="en-IN"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Implemented using </a:t>
            </a:r>
            <a:r>
              <a:rPr lang="en-IN" sz="2000" b="1" dirty="0">
                <a:latin typeface="Times New Roman" panose="02020603050405020304" pitchFamily="18" charset="0"/>
                <a:cs typeface="Times New Roman" panose="02020603050405020304" pitchFamily="18" charset="0"/>
              </a:rPr>
              <a:t>Node.js / Django / Flask</a:t>
            </a:r>
            <a:r>
              <a:rPr lang="en-IN" sz="20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Handles requests from frontend, manages workflow, and coordinates with AI models.</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Ensures authentication, validation, and secure communication.</a:t>
            </a:r>
          </a:p>
          <a:p>
            <a:pPr algn="just">
              <a:buNone/>
            </a:pPr>
            <a:r>
              <a:rPr lang="en-IN" sz="2000" b="1" dirty="0">
                <a:latin typeface="Times New Roman" panose="02020603050405020304" pitchFamily="18" charset="0"/>
                <a:cs typeface="Times New Roman" panose="02020603050405020304" pitchFamily="18" charset="0"/>
              </a:rPr>
              <a:t>Step 4: Resume Parser &amp; Preprocessing</a:t>
            </a:r>
            <a:endParaRPr lang="en-IN"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Extracts text from uploaded PDF/DOCX using parsing libraries.</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Applies </a:t>
            </a:r>
            <a:r>
              <a:rPr lang="en-IN" sz="2000" b="1" dirty="0">
                <a:latin typeface="Times New Roman" panose="02020603050405020304" pitchFamily="18" charset="0"/>
                <a:cs typeface="Times New Roman" panose="02020603050405020304" pitchFamily="18" charset="0"/>
              </a:rPr>
              <a:t>NLP preprocessing</a:t>
            </a:r>
            <a:r>
              <a:rPr lang="en-IN" sz="2000" dirty="0">
                <a:latin typeface="Times New Roman" panose="02020603050405020304" pitchFamily="18" charset="0"/>
                <a:cs typeface="Times New Roman" panose="02020603050405020304" pitchFamily="18" charset="0"/>
              </a:rPr>
              <a:t>: tokenization, stop-word removal, lemmatization.</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Identifies key sections: Personal Info, Education, Skills, Experience.</a:t>
            </a:r>
          </a:p>
          <a:p>
            <a:pPr algn="just">
              <a:buNone/>
            </a:pPr>
            <a:r>
              <a:rPr lang="en-IN" sz="2000" b="1" dirty="0">
                <a:latin typeface="Times New Roman" panose="02020603050405020304" pitchFamily="18" charset="0"/>
                <a:cs typeface="Times New Roman" panose="02020603050405020304" pitchFamily="18" charset="0"/>
              </a:rPr>
              <a:t>Step 5: Job Description Analysis</a:t>
            </a:r>
            <a:endParaRPr lang="en-IN"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JD text is parsed and converted into feature vectors.</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Keywords, required skills, and role-specific entities extracted.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59960B-F457-6146-E1C1-AA90E3FAFC8F}"/>
              </a:ext>
            </a:extLst>
          </p:cNvPr>
          <p:cNvSpPr txBox="1"/>
          <p:nvPr/>
        </p:nvSpPr>
        <p:spPr>
          <a:xfrm>
            <a:off x="591059" y="155695"/>
            <a:ext cx="10196052" cy="5940088"/>
          </a:xfrm>
          <a:prstGeom prst="rect">
            <a:avLst/>
          </a:prstGeom>
          <a:noFill/>
        </p:spPr>
        <p:txBody>
          <a:bodyPr wrap="square">
            <a:spAutoFit/>
          </a:bodyPr>
          <a:lstStyle/>
          <a:p>
            <a:pPr>
              <a:buFont typeface="Arial" panose="020B0604020202020204" pitchFamily="34" charset="0"/>
              <a:buChar char="•"/>
            </a:pPr>
            <a:endParaRPr lang="en-IN" sz="2000" dirty="0"/>
          </a:p>
          <a:p>
            <a:pPr>
              <a:buNone/>
            </a:pPr>
            <a:r>
              <a:rPr lang="en-IN" sz="2000" b="1" dirty="0">
                <a:latin typeface="Times New Roman" panose="02020603050405020304" pitchFamily="18" charset="0"/>
                <a:cs typeface="Times New Roman" panose="02020603050405020304" pitchFamily="18" charset="0"/>
              </a:rPr>
              <a:t>Step 6: AI/NLP Engine</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Converts both Resume &amp; JD into vector representations (TF-IDF, Word2Vec, BERT).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Calculates </a:t>
            </a:r>
            <a:r>
              <a:rPr lang="en-IN" sz="2000" b="1" dirty="0">
                <a:latin typeface="Times New Roman" panose="02020603050405020304" pitchFamily="18" charset="0"/>
                <a:cs typeface="Times New Roman" panose="02020603050405020304" pitchFamily="18" charset="0"/>
              </a:rPr>
              <a:t>Cosine Similarity</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Keyword Match %</a:t>
            </a:r>
            <a:r>
              <a:rPr lang="en-IN"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ATS compliance report (formatting, grammar, missing skills).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Uses </a:t>
            </a:r>
            <a:r>
              <a:rPr lang="en-IN" sz="2000" b="1" dirty="0">
                <a:latin typeface="Times New Roman" panose="02020603050405020304" pitchFamily="18" charset="0"/>
                <a:cs typeface="Times New Roman" panose="02020603050405020304" pitchFamily="18" charset="0"/>
              </a:rPr>
              <a:t>GPT/LLM API</a:t>
            </a:r>
            <a:r>
              <a:rPr lang="en-IN" sz="2000" dirty="0">
                <a:latin typeface="Times New Roman" panose="02020603050405020304" pitchFamily="18" charset="0"/>
                <a:cs typeface="Times New Roman" panose="02020603050405020304" pitchFamily="18" charset="0"/>
              </a:rPr>
              <a:t> for phrasing and content suggestions.</a:t>
            </a:r>
          </a:p>
          <a:p>
            <a:pPr>
              <a:buNone/>
            </a:pPr>
            <a:r>
              <a:rPr lang="en-IN" sz="2000" b="1" dirty="0">
                <a:latin typeface="Times New Roman" panose="02020603050405020304" pitchFamily="18" charset="0"/>
                <a:cs typeface="Times New Roman" panose="02020603050405020304" pitchFamily="18" charset="0"/>
              </a:rPr>
              <a:t>Step 7: Resume Scoring &amp; Suggestions</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Produces a </a:t>
            </a:r>
            <a:r>
              <a:rPr lang="en-IN" sz="2000" b="1" dirty="0">
                <a:latin typeface="Times New Roman" panose="02020603050405020304" pitchFamily="18" charset="0"/>
                <a:cs typeface="Times New Roman" panose="02020603050405020304" pitchFamily="18" charset="0"/>
              </a:rPr>
              <a:t>scorecard</a:t>
            </a:r>
            <a:r>
              <a:rPr lang="en-IN" sz="2000" dirty="0">
                <a:latin typeface="Times New Roman" panose="02020603050405020304" pitchFamily="18" charset="0"/>
                <a:cs typeface="Times New Roman" panose="02020603050405020304" pitchFamily="18" charset="0"/>
              </a:rPr>
              <a:t>: relevance score, strengths, weaknesses.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Suggests improvements: missing keywords, better summaries, formatting fixes.</a:t>
            </a:r>
          </a:p>
          <a:p>
            <a:pPr>
              <a:buNone/>
            </a:pPr>
            <a:r>
              <a:rPr lang="en-IN" sz="2000" b="1" dirty="0">
                <a:latin typeface="Times New Roman" panose="02020603050405020304" pitchFamily="18" charset="0"/>
                <a:cs typeface="Times New Roman" panose="02020603050405020304" pitchFamily="18" charset="0"/>
              </a:rPr>
              <a:t>Step 8: Resume Builder Module</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Step-by-step form for manual resume creation.</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 suggests summaries, skills, and professional wording.</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 chooses from ATS-friendly templates with live preview.</a:t>
            </a:r>
          </a:p>
          <a:p>
            <a:pPr>
              <a:buNone/>
            </a:pPr>
            <a:r>
              <a:rPr lang="en-IN" sz="2000" b="1" dirty="0">
                <a:latin typeface="Times New Roman" panose="02020603050405020304" pitchFamily="18" charset="0"/>
                <a:cs typeface="Times New Roman" panose="02020603050405020304" pitchFamily="18" charset="0"/>
              </a:rPr>
              <a:t>Step 9: Database &amp; Storage</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Database (MongoDB/PostgreSQL)</a:t>
            </a:r>
            <a:r>
              <a:rPr lang="en-IN" sz="2000" dirty="0">
                <a:latin typeface="Times New Roman" panose="02020603050405020304" pitchFamily="18" charset="0"/>
                <a:cs typeface="Times New Roman" panose="02020603050405020304" pitchFamily="18" charset="0"/>
              </a:rPr>
              <a:t> stores user profiles, resume metadata, templates.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Cloud Storage (AWS/Firebase)</a:t>
            </a:r>
            <a:r>
              <a:rPr lang="en-IN" sz="2000" dirty="0">
                <a:latin typeface="Times New Roman" panose="02020603050405020304" pitchFamily="18" charset="0"/>
                <a:cs typeface="Times New Roman" panose="02020603050405020304" pitchFamily="18" charset="0"/>
              </a:rPr>
              <a:t> stores uploaded files securely.</a:t>
            </a:r>
          </a:p>
          <a:p>
            <a:pPr>
              <a:buNone/>
            </a:pPr>
            <a:r>
              <a:rPr lang="en-IN" sz="2000" b="1" dirty="0">
                <a:latin typeface="Times New Roman" panose="02020603050405020304" pitchFamily="18" charset="0"/>
                <a:cs typeface="Times New Roman" panose="02020603050405020304" pitchFamily="18" charset="0"/>
              </a:rPr>
              <a:t>Step 10: Output Layer</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Final resume available for </a:t>
            </a:r>
            <a:r>
              <a:rPr lang="en-IN" sz="2000" b="1" dirty="0">
                <a:latin typeface="Times New Roman" panose="02020603050405020304" pitchFamily="18" charset="0"/>
                <a:cs typeface="Times New Roman" panose="02020603050405020304" pitchFamily="18" charset="0"/>
              </a:rPr>
              <a:t>export in PDF/DOCX format</a:t>
            </a:r>
            <a:r>
              <a:rPr lang="en-IN"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Users can save resumes and reports in their dashboard for future use.</a:t>
            </a:r>
          </a:p>
        </p:txBody>
      </p:sp>
    </p:spTree>
    <p:extLst>
      <p:ext uri="{BB962C8B-B14F-4D97-AF65-F5344CB8AC3E}">
        <p14:creationId xmlns:p14="http://schemas.microsoft.com/office/powerpoint/2010/main" val="2610589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38882"/>
            <a:ext cx="12192000" cy="69067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r>
              <a:rPr lang="en-US" sz="4000" b="1" dirty="0">
                <a:latin typeface="Times New Roman" panose="02020603050405020304" pitchFamily="18" charset="0"/>
                <a:cs typeface="Times New Roman" panose="02020603050405020304" pitchFamily="18" charset="0"/>
              </a:rPr>
              <a:t>UML Diagrams</a:t>
            </a:r>
          </a:p>
        </p:txBody>
      </p:sp>
      <p:sp>
        <p:nvSpPr>
          <p:cNvPr id="6" name="Content Placeholder 5"/>
          <p:cNvSpPr>
            <a:spLocks noGrp="1"/>
          </p:cNvSpPr>
          <p:nvPr>
            <p:ph idx="1"/>
          </p:nvPr>
        </p:nvSpPr>
        <p:spPr>
          <a:xfrm>
            <a:off x="150043" y="1005493"/>
            <a:ext cx="10515600" cy="4351338"/>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Use Case Diagram:</a:t>
            </a:r>
          </a:p>
        </p:txBody>
      </p:sp>
      <p:pic>
        <p:nvPicPr>
          <p:cNvPr id="2050" name="Picture 2" descr="PlantUML Diagram">
            <a:extLst>
              <a:ext uri="{FF2B5EF4-FFF2-40B4-BE49-F238E27FC236}">
                <a16:creationId xmlns:a16="http://schemas.microsoft.com/office/drawing/2014/main" id="{504F5E55-1541-A158-FE52-45D8296F50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1546420"/>
            <a:ext cx="11296650" cy="51032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8579" y="307909"/>
            <a:ext cx="10515600" cy="4351338"/>
          </a:xfrm>
        </p:spPr>
        <p:txBody>
          <a:bodyPr>
            <a:normAutofit/>
          </a:bodyPr>
          <a:lstStyle/>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Activity Diagram:</a:t>
            </a:r>
          </a:p>
          <a:p>
            <a:endParaRPr lang="en-IN" sz="2400" b="1"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pic>
        <p:nvPicPr>
          <p:cNvPr id="3074" name="Picture 2" descr="PlantUML Diagram">
            <a:extLst>
              <a:ext uri="{FF2B5EF4-FFF2-40B4-BE49-F238E27FC236}">
                <a16:creationId xmlns:a16="http://schemas.microsoft.com/office/drawing/2014/main" id="{351C5E6C-BFCB-5F60-33DB-E240E0446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7118" y="1222867"/>
            <a:ext cx="8048729" cy="5635133"/>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p:cNvSpPr/>
          <p:nvPr/>
        </p:nvSpPr>
        <p:spPr>
          <a:xfrm>
            <a:off x="0" y="179797"/>
            <a:ext cx="12192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4000" b="1" dirty="0">
                <a:latin typeface="Times New Roman" panose="02020603050405020304" pitchFamily="18" charset="0"/>
                <a:cs typeface="Times New Roman" panose="02020603050405020304" pitchFamily="18" charset="0"/>
              </a:rPr>
              <a:t>Activity Diagrams</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F986-A44C-DDE9-E2CC-3CFC09F0F7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929490-5FB2-81B5-2F44-79D516C36028}"/>
              </a:ext>
            </a:extLst>
          </p:cNvPr>
          <p:cNvSpPr>
            <a:spLocks noGrp="1"/>
          </p:cNvSpPr>
          <p:nvPr>
            <p:ph type="title"/>
          </p:nvPr>
        </p:nvSpPr>
        <p:spPr>
          <a:xfrm>
            <a:off x="0" y="138882"/>
            <a:ext cx="12192000" cy="77551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Expected Outcome</a:t>
            </a:r>
            <a:endParaRPr lang="en-US" sz="4000" dirty="0"/>
          </a:p>
        </p:txBody>
      </p:sp>
      <p:sp>
        <p:nvSpPr>
          <p:cNvPr id="3" name="Content Placeholder 2">
            <a:extLst>
              <a:ext uri="{FF2B5EF4-FFF2-40B4-BE49-F238E27FC236}">
                <a16:creationId xmlns:a16="http://schemas.microsoft.com/office/drawing/2014/main" id="{6A8B294B-9DE7-F0E8-B109-047D68A8FAAE}"/>
              </a:ext>
            </a:extLst>
          </p:cNvPr>
          <p:cNvSpPr>
            <a:spLocks noGrp="1" noChangeArrowheads="1"/>
          </p:cNvSpPr>
          <p:nvPr>
            <p:ph idx="1"/>
          </p:nvPr>
        </p:nvSpPr>
        <p:spPr bwMode="auto">
          <a:xfrm>
            <a:off x="248149" y="1603475"/>
            <a:ext cx="986250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web app for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analysis and building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parsing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(skills, education, experience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 compliance check</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scoring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Semantic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resume–job description matching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NLP/AI.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 suggestions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professional phrasing.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ATS-friendly templates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resume creation.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Export option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PDF/DOCX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employability and shortlisting chances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users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56427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08059"/>
            <a:ext cx="12192000" cy="765243"/>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Timeline Chart</a:t>
            </a:r>
          </a:p>
        </p:txBody>
      </p:sp>
      <p:sp>
        <p:nvSpPr>
          <p:cNvPr id="8" name="Rectangle 2"/>
          <p:cNvSpPr>
            <a:spLocks noChangeArrowheads="1"/>
          </p:cNvSpPr>
          <p:nvPr/>
        </p:nvSpPr>
        <p:spPr bwMode="auto">
          <a:xfrm>
            <a:off x="4752975"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2150" y="1579046"/>
            <a:ext cx="8267700" cy="440848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21147"/>
            <a:ext cx="12192000" cy="754342"/>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Conclusion</a:t>
            </a:r>
            <a:endParaRPr lang="en-US" sz="4000" dirty="0"/>
          </a:p>
        </p:txBody>
      </p:sp>
      <p:sp>
        <p:nvSpPr>
          <p:cNvPr id="3" name="Content Placeholder 2">
            <a:extLst>
              <a:ext uri="{FF2B5EF4-FFF2-40B4-BE49-F238E27FC236}">
                <a16:creationId xmlns:a16="http://schemas.microsoft.com/office/drawing/2014/main" id="{E25CAD64-A20E-0E54-6CE1-E2CB9FBC020B}"/>
              </a:ext>
            </a:extLst>
          </p:cNvPr>
          <p:cNvSpPr>
            <a:spLocks noGrp="1" noChangeArrowheads="1"/>
          </p:cNvSpPr>
          <p:nvPr>
            <p:ph idx="1"/>
          </p:nvPr>
        </p:nvSpPr>
        <p:spPr bwMode="auto">
          <a:xfrm>
            <a:off x="744539" y="991980"/>
            <a:ext cx="873115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an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solution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resume analysis and building.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 compatibility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better alignment with job descriptions.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recruiter workload through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screening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recommendations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professional resume templates.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job seekers’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chances of shortlisting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competitive markets.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Demonstrates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 integration of AI, NLP, and web technologies</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04954"/>
            <a:ext cx="12192000" cy="811132"/>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r>
              <a:rPr lang="en-US" sz="4000" b="1" dirty="0">
                <a:latin typeface="Times New Roman" panose="02020603050405020304" pitchFamily="18" charset="0"/>
                <a:cs typeface="Times New Roman" panose="02020603050405020304" pitchFamily="18" charset="0"/>
              </a:rPr>
              <a:t>References</a:t>
            </a:r>
          </a:p>
        </p:txBody>
      </p:sp>
      <p:sp>
        <p:nvSpPr>
          <p:cNvPr id="2" name="Content Placeholder 1">
            <a:extLst>
              <a:ext uri="{FF2B5EF4-FFF2-40B4-BE49-F238E27FC236}">
                <a16:creationId xmlns:a16="http://schemas.microsoft.com/office/drawing/2014/main" id="{21020321-29D9-8EFB-A20D-D5D31549FA0A}"/>
              </a:ext>
            </a:extLst>
          </p:cNvPr>
          <p:cNvSpPr>
            <a:spLocks noGrp="1" noChangeArrowheads="1"/>
          </p:cNvSpPr>
          <p:nvPr>
            <p:ph idx="1"/>
          </p:nvPr>
        </p:nvSpPr>
        <p:spPr bwMode="auto">
          <a:xfrm>
            <a:off x="593724" y="916086"/>
            <a:ext cx="9631823"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Rosenberger, J. (2025). </a:t>
            </a:r>
            <a:r>
              <a:rPr kumimoji="0" lang="en-US" altLang="en-US"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CareerBERT</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Matching Resumes to ESCO Jobs in a Shared Embedding Space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Elsevier, ScienceDirect.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Bevara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R.V.K. (2025).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Resume2Vec: Transforming Applicant Tracking Systems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MDPI Electronics.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Thatavarthi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G.S., Sai, S.K. (2023).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Resume Parsing: A Natural Language Processing Approach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CSITSS Conference.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Resume Screening for Smart Hiring Using S-BERT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Science and Information Association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TheSAI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IOSR Journals. (2025).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Comparison of Models for Resume–Job Description Matching Using BERT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Hiring with LLMs: A Context-Aware and Explainable Framework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 2025.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IJFMR. (2024).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NLP-Powered Resume Matching for Recruitment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IJESAT. (2024).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Resume Shortlisting Using Machine Learning Approaches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Stanford CS224n Project Report. (2023).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Document Matching for Job Descriptions Using Embeddings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TechRxiv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Analyzing Job Matching Algorithms: A Comparative Study of BERT and Lightweight Models</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IN" sz="4800" dirty="0">
              <a:latin typeface="Times New Roman" panose="02020603050405020304" pitchFamily="18" charset="0"/>
              <a:cs typeface="Times New Roman" panose="02020603050405020304" pitchFamily="18" charset="0"/>
            </a:endParaRPr>
          </a:p>
          <a:p>
            <a:pPr marL="0" indent="0">
              <a:buNone/>
            </a:pPr>
            <a:r>
              <a:rPr lang="en-IN" sz="6000" dirty="0">
                <a:latin typeface="Times New Roman" panose="02020603050405020304" pitchFamily="18" charset="0"/>
                <a:cs typeface="Times New Roman" panose="02020603050405020304" pitchFamily="18" charset="0"/>
              </a:rPr>
              <a:t>                 </a:t>
            </a:r>
            <a:r>
              <a:rPr lang="en-IN" sz="6000" b="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1747</Words>
  <Application>Microsoft Office PowerPoint</Application>
  <PresentationFormat>Widescreen</PresentationFormat>
  <Paragraphs>256</Paragraphs>
  <Slides>23</Slides>
  <Notes>7</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Feasibility and Scope</vt:lpstr>
      <vt:lpstr>Risk Identified</vt:lpstr>
      <vt:lpstr>Back-up</vt:lpstr>
      <vt:lpstr>Proposed Methodology</vt:lpstr>
      <vt:lpstr>PowerPoint Presentation</vt:lpstr>
      <vt:lpstr>PowerPoint Presentation</vt:lpstr>
      <vt:lpstr>UML Diagrams</vt:lpstr>
      <vt:lpstr>PowerPoint Presentation</vt:lpstr>
      <vt:lpstr>Expected Outcome</vt:lpstr>
      <vt:lpstr>Timeline Chart</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KJCOMP</dc:creator>
  <cp:lastModifiedBy>Akash Phadtare</cp:lastModifiedBy>
  <cp:revision>64</cp:revision>
  <dcterms:created xsi:type="dcterms:W3CDTF">2023-08-21T11:14:00Z</dcterms:created>
  <dcterms:modified xsi:type="dcterms:W3CDTF">2025-10-12T17:10:05Z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6121ADAF353743778C513953D49B7236_13</vt:lpwstr>
  </property>
  <property fmtid="{D5CDD505-2E9C-101B-9397-08002B2CF9AE}" pid="3" name="KSOProductBuildVer">
    <vt:lpwstr>1033-12.2.0.13306</vt:lpwstr>
  </property>
</Properties>
</file>